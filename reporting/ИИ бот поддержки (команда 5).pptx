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Noto Sans Symbols"/>
      <p:regular r:id="rId19"/>
      <p:bold r:id="rId20"/>
    </p:embeddedFont>
    <p:embeddedFont>
      <p:font typeface="Gill Sans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gI3JtWGJMDgO84P49hfQ7Ctpd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Symbols-bold.fntdata"/><Relationship Id="rId11" Type="http://schemas.openxmlformats.org/officeDocument/2006/relationships/slide" Target="slides/slide7.xml"/><Relationship Id="rId22" Type="http://schemas.openxmlformats.org/officeDocument/2006/relationships/font" Target="fonts/GillSans-bold.fntdata"/><Relationship Id="rId10" Type="http://schemas.openxmlformats.org/officeDocument/2006/relationships/slide" Target="slides/slide6.xml"/><Relationship Id="rId21" Type="http://schemas.openxmlformats.org/officeDocument/2006/relationships/font" Target="fonts/GillSans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NotoSansSymbols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d1fc4e3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d1fc4e35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d1fc4e35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d1fc4e355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70ed8efd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70ed8ef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70ed8efd6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70ed8efd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c87a8ff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ec87a8fff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c87a8fff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ec87a8fffd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5becf0698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3e5becf0698_2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5becf0698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e5becf0698_2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8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8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0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1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2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7" name="Google Shape;47;p12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9" name="Google Shape;49;p12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b="0" sz="2000"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4" lvl="3" marL="18288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4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" name="Google Shape;11;p7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7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7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type="ctrTitle"/>
          </p:nvPr>
        </p:nvSpPr>
        <p:spPr>
          <a:xfrm>
            <a:off x="581191" y="686942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lang="ru-RU"/>
              <a:t>ПРИЛОЖЕНИЕ </a:t>
            </a:r>
            <a:br>
              <a:rPr lang="ru-RU"/>
            </a:br>
            <a:r>
              <a:rPr lang="ru-RU"/>
              <a:t>«ИИ-БОТ КЛИЕНТСКОЙ ПОДДЕРЖКИ»</a:t>
            </a:r>
            <a:endParaRPr/>
          </a:p>
        </p:txBody>
      </p:sp>
      <p:sp>
        <p:nvSpPr>
          <p:cNvPr id="97" name="Google Shape;97;p1"/>
          <p:cNvSpPr txBox="1"/>
          <p:nvPr>
            <p:ph idx="1" type="subTitle"/>
          </p:nvPr>
        </p:nvSpPr>
        <p:spPr>
          <a:xfrm>
            <a:off x="581194" y="2248018"/>
            <a:ext cx="10993546" cy="7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ru-RU"/>
              <a:t>ЗАКАЗЧИК: ТОКЕОН (CLEARWAY.RU)</a:t>
            </a:r>
            <a:endParaRPr/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lang="ru-RU"/>
              <a:t>ПРОЕКТ КОМАНДЫ №5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1066800" y="588981"/>
            <a:ext cx="9563547" cy="16093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/>
              <a:t>КОМАНДА ПРОЕКТА И ОБЛАСТИ ОТВЕТСТВЕННОСТИ</a:t>
            </a:r>
            <a:endParaRPr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1066800" y="2295144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ru-RU"/>
              <a:t>Шипетина Ольга — разработчик, блок «Общая инфраструктура»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ru-RU"/>
              <a:t>Кушнир Дмитрий — разработчик, блок «Обработка данных»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ru-RU"/>
              <a:t>Чурсина </a:t>
            </a:r>
            <a:r>
              <a:rPr lang="ru-RU"/>
              <a:t>Марина — разработчик, блок «Поиск и извлечение данных (RAG)»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ru-RU"/>
              <a:t>Харитонова Александра — разработчик, блок «Интеграция с языковой моделью (LLM)»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ru-RU"/>
              <a:t>Дроздов </a:t>
            </a:r>
            <a:r>
              <a:rPr lang="ru-RU"/>
              <a:t>Николай— разработчик, блок «API-слой»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ru-RU"/>
              <a:t>Варава </a:t>
            </a:r>
            <a:r>
              <a:rPr lang="ru-RU"/>
              <a:t>Диана — разработчик, блок «Telegram-бот»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ru-RU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КОМАНДА ПРОЕКТА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/>
              <a:t>ФУНКЦИОНАЛ ПРИЛОЖЕНИЯ «ЛИЧНЫЙ ПОМОЩНИК»</a:t>
            </a:r>
            <a:endParaRPr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395006" y="2107154"/>
            <a:ext cx="11029616" cy="44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92000"/>
              <a:buNone/>
            </a:pPr>
            <a:r>
              <a:rPr lang="ru-RU"/>
              <a:t>Приложение предоставляет интеллектуальный чат поддержки, который отвечает на вопросы пользователей на основе внутренней базы знаний компании.</a:t>
            </a:r>
            <a:endParaRPr/>
          </a:p>
          <a:p>
            <a:pPr indent="-306000" lvl="0" marL="306000" rtl="0" algn="l">
              <a:spcBef>
                <a:spcPts val="879"/>
              </a:spcBef>
              <a:spcAft>
                <a:spcPts val="0"/>
              </a:spcAft>
              <a:buSzPct val="92000"/>
              <a:buChar char="◼"/>
            </a:pPr>
            <a:r>
              <a:rPr b="1" lang="ru-RU"/>
              <a:t>Основной функционал:</a:t>
            </a:r>
            <a:endParaRPr/>
          </a:p>
          <a:p>
            <a:pPr indent="-306000" lvl="1" marL="630000" rtl="0" algn="l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Чат-интерфейс для общения пользователя с системой поддержки</a:t>
            </a:r>
            <a:endParaRPr/>
          </a:p>
          <a:p>
            <a:pPr indent="-306000" lvl="1" marL="630000" rtl="0" algn="l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Ответы на вопросы на основе базы знаний (RAG — Retrieval Augmented Generation)</a:t>
            </a:r>
            <a:endParaRPr/>
          </a:p>
          <a:p>
            <a:pPr indent="-306000" lvl="1" marL="630000" rtl="0" algn="l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Поиск релевантных фрагментов информации через векторное хранилище</a:t>
            </a:r>
            <a:endParaRPr/>
          </a:p>
          <a:p>
            <a:pPr indent="-306000" lvl="1" marL="630000" rtl="0" algn="l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Поддержка потоковой генерации ответов (streaming)</a:t>
            </a:r>
            <a:endParaRPr/>
          </a:p>
          <a:p>
            <a:pPr indent="-306000" lvl="1" marL="630000" rtl="0" algn="l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Интеграция с Telegram-ботом и веб-интерфейсом</a:t>
            </a:r>
            <a:endParaRPr/>
          </a:p>
          <a:p>
            <a:pPr indent="-306000" lvl="1" marL="630000" rtl="0" algn="l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REST API для взаимодействия с клиентскими приложениями</a:t>
            </a:r>
            <a:endParaRPr/>
          </a:p>
          <a:p>
            <a:pPr indent="-306000" lvl="1" marL="630000" rtl="0" algn="l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Логирование и хранение пользовательских запросов</a:t>
            </a:r>
            <a:endParaRPr/>
          </a:p>
          <a:p>
            <a:pPr indent="-306000" lvl="1" marL="630000" rtl="0" algn="l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Поддержка расширяемой базы знаний (YAML + текстовые документы)</a:t>
            </a:r>
            <a:endParaRPr/>
          </a:p>
          <a:p>
            <a:pPr indent="-306000" lvl="0" marL="306000" rtl="0" algn="l">
              <a:spcBef>
                <a:spcPts val="879"/>
              </a:spcBef>
              <a:spcAft>
                <a:spcPts val="0"/>
              </a:spcAft>
              <a:buSzPct val="92000"/>
              <a:buChar char="◼"/>
            </a:pPr>
            <a:r>
              <a:rPr b="1" lang="ru-RU"/>
              <a:t>Ключевая ценность:</a:t>
            </a:r>
            <a:endParaRPr/>
          </a:p>
          <a:p>
            <a:pPr indent="-306000" lvl="1" marL="630000" rtl="0" algn="l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Автоматизация клиентской поддержки</a:t>
            </a:r>
            <a:endParaRPr/>
          </a:p>
          <a:p>
            <a:pPr indent="-306000" lvl="1" marL="630000" rtl="0" algn="l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Снижение нагрузки на операторов</a:t>
            </a:r>
            <a:endParaRPr/>
          </a:p>
          <a:p>
            <a:pPr indent="-306000" lvl="1" marL="630000" rtl="0" algn="l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Быстрые и контекстно-обоснованные ответы пользователям</a:t>
            </a:r>
            <a:endParaRPr/>
          </a:p>
          <a:p>
            <a:pPr indent="-306000" lvl="1" marL="630000" rtl="0" algn="l">
              <a:spcBef>
                <a:spcPts val="848"/>
              </a:spcBef>
              <a:spcAft>
                <a:spcPts val="0"/>
              </a:spcAft>
              <a:buSzPct val="92000"/>
              <a:buFont typeface="Arial"/>
              <a:buChar char="•"/>
            </a:pPr>
            <a:r>
              <a:rPr lang="ru-RU"/>
              <a:t>Возможность масштабирования на разные каналы (уже есть каналы: web, Telegram)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/>
              <a:t>ТЕХНИЧЕСКИЙ СТЕК ПРИЛОЖЕНИЯ «ЛИЧНЫЙ ПОМОЩНИК»</a:t>
            </a:r>
            <a:endParaRPr/>
          </a:p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244" y="1956546"/>
            <a:ext cx="8347936" cy="435133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8778239" y="2074881"/>
            <a:ext cx="3151991" cy="3798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lang="ru-RU"/>
              <a:t>Масштабируемая модульная архитектура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lang="ru-RU"/>
              <a:t>LLM с учетом контекста компании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lang="ru-RU"/>
              <a:t>Семантический поиск (ChromaDB)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lang="ru-RU"/>
              <a:t>Мультиязычность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lang="ru-RU"/>
              <a:t>Быстрое развертывание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/>
              <a:t>ОКРУЖЕНИЕ ПРОЕКТА</a:t>
            </a:r>
            <a:endParaRPr/>
          </a:p>
        </p:txBody>
      </p:sp>
      <p:sp>
        <p:nvSpPr>
          <p:cNvPr id="123" name="Google Shape;123;p5"/>
          <p:cNvSpPr txBox="1"/>
          <p:nvPr>
            <p:ph idx="1" type="body"/>
          </p:nvPr>
        </p:nvSpPr>
        <p:spPr>
          <a:xfrm>
            <a:off x="7282927" y="2807746"/>
            <a:ext cx="4327880" cy="305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lang="ru-RU"/>
              <a:t>Единое Docker-окружение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lang="ru-RU"/>
              <a:t>Стандарты качества разработки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lang="ru-RU"/>
              <a:t>Централизованные конфигурации и логирование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Font typeface="Arial"/>
              <a:buChar char="•"/>
            </a:pPr>
            <a:r>
              <a:rPr lang="ru-RU"/>
              <a:t>Контроль стабильности и тестирование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pic>
        <p:nvPicPr>
          <p:cNvPr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927" y="1986369"/>
            <a:ext cx="6858000" cy="382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d1fc4e355_0_0"/>
          <p:cNvSpPr txBox="1"/>
          <p:nvPr>
            <p:ph type="title"/>
          </p:nvPr>
        </p:nvSpPr>
        <p:spPr>
          <a:xfrm>
            <a:off x="1066800" y="588981"/>
            <a:ext cx="9563400" cy="160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/>
              <a:t>КОМАНДА ПРОЕКТА И ОБЛАСТИ ОТВЕТСТВЕННОСТИ</a:t>
            </a:r>
            <a:endParaRPr/>
          </a:p>
        </p:txBody>
      </p:sp>
      <p:sp>
        <p:nvSpPr>
          <p:cNvPr id="130" name="Google Shape;130;g3ed1fc4e355_0_0"/>
          <p:cNvSpPr txBox="1"/>
          <p:nvPr/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 sz="2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БЛОК </a:t>
            </a:r>
            <a:r>
              <a:rPr lang="ru-RU" sz="27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«</a:t>
            </a:r>
            <a:r>
              <a:rPr lang="ru-RU" sz="2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ОБРАБОТКА ДАННЫХ» - РОЛЬ И ПОТОК ДАННЫХ</a:t>
            </a:r>
            <a:endParaRPr/>
          </a:p>
        </p:txBody>
      </p:sp>
      <p:sp>
        <p:nvSpPr>
          <p:cNvPr id="131" name="Google Shape;131;g3ed1fc4e355_0_0"/>
          <p:cNvSpPr txBox="1"/>
          <p:nvPr>
            <p:ph idx="1" type="body"/>
          </p:nvPr>
        </p:nvSpPr>
        <p:spPr>
          <a:xfrm>
            <a:off x="395006" y="2107154"/>
            <a:ext cx="11029500" cy="44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b="1" lang="ru-RU" sz="1565"/>
              <a:t>Зона ответственности:</a:t>
            </a:r>
            <a:r>
              <a:rPr lang="ru-RU" sz="1565"/>
              <a:t> слой подготовки базы знаний для RAG — от текстов в репозитории до векторного индекса в ChromaDB.</a:t>
            </a:r>
            <a:endParaRPr sz="1565"/>
          </a:p>
          <a:p>
            <a:pPr indent="-319754" lvl="0" marL="306000" rtl="0" algn="l">
              <a:spcBef>
                <a:spcPts val="879"/>
              </a:spcBef>
              <a:spcAft>
                <a:spcPts val="0"/>
              </a:spcAft>
              <a:buSzPts val="1500"/>
              <a:buChar char="◼"/>
            </a:pPr>
            <a:r>
              <a:rPr b="1" lang="ru-RU" sz="1500"/>
              <a:t>Вход</a:t>
            </a:r>
            <a:r>
              <a:rPr b="1" lang="ru-RU" sz="1500"/>
              <a:t>:</a:t>
            </a:r>
            <a:endParaRPr sz="1500"/>
          </a:p>
          <a:p>
            <a:pPr indent="-327031" lvl="1" marL="630000" rtl="0" algn="l">
              <a:spcBef>
                <a:spcPts val="848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/>
              <a:t>Каталог: YAML-манифесты (структура и список документов) и текстовые файлы .txt</a:t>
            </a:r>
            <a:endParaRPr/>
          </a:p>
          <a:p>
            <a:pPr indent="-319754" lvl="0" marL="306000" rtl="0" algn="l">
              <a:spcBef>
                <a:spcPts val="879"/>
              </a:spcBef>
              <a:spcAft>
                <a:spcPts val="0"/>
              </a:spcAft>
              <a:buSzPts val="1500"/>
              <a:buChar char="◼"/>
            </a:pPr>
            <a:r>
              <a:rPr b="1" lang="ru-RU" sz="1500"/>
              <a:t>Выход</a:t>
            </a:r>
            <a:r>
              <a:rPr b="1" lang="ru-RU" sz="1500"/>
              <a:t>:</a:t>
            </a:r>
            <a:endParaRPr sz="1500"/>
          </a:p>
          <a:p>
            <a:pPr indent="-327031" lvl="1" marL="630000" rtl="0" algn="l">
              <a:spcBef>
                <a:spcPts val="848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/>
              <a:t>Локальный индекс в ChromaDB — набор фрагментов текстов с эмбеддингами.</a:t>
            </a:r>
            <a:endParaRPr/>
          </a:p>
          <a:p>
            <a:pPr indent="-319754" lvl="0" marL="306000" rtl="0" algn="l">
              <a:spcBef>
                <a:spcPts val="879"/>
              </a:spcBef>
              <a:spcAft>
                <a:spcPts val="0"/>
              </a:spcAft>
              <a:buSzPts val="1500"/>
              <a:buChar char="◼"/>
            </a:pPr>
            <a:r>
              <a:rPr b="1" lang="ru-RU" sz="1500"/>
              <a:t>Пайплайн</a:t>
            </a:r>
            <a:r>
              <a:rPr b="1" lang="ru-RU" sz="1500"/>
              <a:t>:</a:t>
            </a:r>
            <a:endParaRPr b="1" sz="1500"/>
          </a:p>
          <a:p>
            <a:pPr indent="-294316" lvl="1" marL="630000" rtl="0" algn="l">
              <a:spcBef>
                <a:spcPts val="879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 sz="1500"/>
              <a:t>Загрузка документов по YAML (в том числе вложенные imports)</a:t>
            </a:r>
            <a:endParaRPr sz="1500"/>
          </a:p>
          <a:p>
            <a:pPr indent="-296094" lvl="1" marL="630000" rtl="0" algn="l">
              <a:spcBef>
                <a:spcPts val="879"/>
              </a:spcBef>
              <a:spcAft>
                <a:spcPts val="0"/>
              </a:spcAft>
              <a:buSzPts val="1500"/>
              <a:buChar char="•"/>
            </a:pPr>
            <a:r>
              <a:rPr lang="ru-RU" sz="1500"/>
              <a:t>Разбиение текста на чанки (chunk_size, chunk_overlap)</a:t>
            </a:r>
            <a:endParaRPr sz="1500"/>
          </a:p>
          <a:p>
            <a:pPr indent="-296094" lvl="1" marL="630000" rtl="0" algn="l">
              <a:spcBef>
                <a:spcPts val="879"/>
              </a:spcBef>
              <a:spcAft>
                <a:spcPts val="0"/>
              </a:spcAft>
              <a:buSzPts val="1500"/>
              <a:buChar char="•"/>
            </a:pPr>
            <a:r>
              <a:rPr lang="ru-RU" sz="1500"/>
              <a:t>Построение эмбеддингов (модель E5, префикс passage:)</a:t>
            </a:r>
            <a:endParaRPr sz="1500"/>
          </a:p>
          <a:p>
            <a:pPr indent="-296094" lvl="1" marL="630000" rtl="0" algn="l">
              <a:spcBef>
                <a:spcPts val="879"/>
              </a:spcBef>
              <a:spcAft>
                <a:spcPts val="0"/>
              </a:spcAft>
              <a:buSzPts val="1500"/>
              <a:buChar char="•"/>
            </a:pPr>
            <a:r>
              <a:rPr lang="ru-RU" sz="1500"/>
              <a:t>Сохранение в ChromaDB с метаданными об источнике</a:t>
            </a:r>
            <a:endParaRPr sz="1500"/>
          </a:p>
          <a:p>
            <a:pPr indent="-319754" lvl="0" marL="306000" rtl="0" algn="l">
              <a:spcBef>
                <a:spcPts val="879"/>
              </a:spcBef>
              <a:spcAft>
                <a:spcPts val="0"/>
              </a:spcAft>
              <a:buSzPts val="1500"/>
              <a:buChar char="◼"/>
            </a:pPr>
            <a:r>
              <a:rPr b="1" lang="ru-RU" sz="1500"/>
              <a:t>Связь:</a:t>
            </a:r>
            <a:endParaRPr sz="1500"/>
          </a:p>
          <a:p>
            <a:pPr indent="-296094" lvl="1" marL="630000" rtl="0" algn="l">
              <a:spcBef>
                <a:spcPts val="879"/>
              </a:spcBef>
              <a:spcAft>
                <a:spcPts val="0"/>
              </a:spcAft>
              <a:buSzPts val="1500"/>
              <a:buChar char="•"/>
            </a:pPr>
            <a:r>
              <a:rPr lang="ru-RU" sz="1500"/>
              <a:t>«Обработка данных» загружает документы и поддерживает индекс в актуальном состоянии. «RAG» не меняет индекс — только находит нужные фрагменты по вопросу пользователя.</a:t>
            </a:r>
            <a:endParaRPr b="1"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d1fc4e355_0_20"/>
          <p:cNvSpPr txBox="1"/>
          <p:nvPr>
            <p:ph type="title"/>
          </p:nvPr>
        </p:nvSpPr>
        <p:spPr>
          <a:xfrm>
            <a:off x="1066800" y="588981"/>
            <a:ext cx="9563400" cy="160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/>
              <a:t>КОМАНДА ПРОЕКТА И ОБЛАСТИ ОТВЕТСТВЕННОСТИ</a:t>
            </a:r>
            <a:endParaRPr/>
          </a:p>
        </p:txBody>
      </p:sp>
      <p:sp>
        <p:nvSpPr>
          <p:cNvPr id="137" name="Google Shape;137;g3ed1fc4e355_0_20"/>
          <p:cNvSpPr txBox="1"/>
          <p:nvPr/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ru-RU" sz="2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БЛОК </a:t>
            </a:r>
            <a:r>
              <a:rPr lang="ru-RU" sz="27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«</a:t>
            </a:r>
            <a:r>
              <a:rPr lang="ru-RU" sz="2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ОБРАБОТКА ДАННЫХ» - ЧТО </a:t>
            </a:r>
            <a:r>
              <a:rPr lang="ru-RU" sz="2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РЕАЛИЗОВАНО</a:t>
            </a:r>
            <a:endParaRPr/>
          </a:p>
        </p:txBody>
      </p:sp>
      <p:sp>
        <p:nvSpPr>
          <p:cNvPr id="138" name="Google Shape;138;g3ed1fc4e355_0_20"/>
          <p:cNvSpPr txBox="1"/>
          <p:nvPr>
            <p:ph idx="1" type="body"/>
          </p:nvPr>
        </p:nvSpPr>
        <p:spPr>
          <a:xfrm>
            <a:off x="395000" y="1904425"/>
            <a:ext cx="11029500" cy="47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 sz="1565"/>
          </a:p>
          <a:p>
            <a:pPr indent="-319754" lvl="0" marL="306000" rtl="0" algn="l">
              <a:spcBef>
                <a:spcPts val="879"/>
              </a:spcBef>
              <a:spcAft>
                <a:spcPts val="0"/>
              </a:spcAft>
              <a:buSzPts val="1500"/>
              <a:buChar char="◼"/>
            </a:pPr>
            <a:r>
              <a:rPr b="1" lang="ru-RU" sz="1500"/>
              <a:t>Ключевые возможности</a:t>
            </a:r>
            <a:r>
              <a:rPr b="1" lang="ru-RU" sz="1500"/>
              <a:t>:</a:t>
            </a:r>
            <a:endParaRPr sz="1500"/>
          </a:p>
          <a:p>
            <a:pPr indent="-327031" lvl="1" marL="630000" rtl="0" algn="l">
              <a:spcBef>
                <a:spcPts val="848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/>
              <a:t>загрузка базы знаний из YAML-дерева манифестов</a:t>
            </a:r>
            <a:endParaRPr/>
          </a:p>
          <a:p>
            <a:pPr indent="-338715" lvl="1" marL="630000" rtl="0" algn="l">
              <a:spcBef>
                <a:spcPts val="848"/>
              </a:spcBef>
              <a:spcAft>
                <a:spcPts val="0"/>
              </a:spcAft>
              <a:buSzPts val="1656"/>
              <a:buChar char="•"/>
            </a:pPr>
            <a:r>
              <a:rPr lang="ru-RU"/>
              <a:t>чанкинг с настраиваемым размером и перекрытием</a:t>
            </a:r>
            <a:endParaRPr/>
          </a:p>
          <a:p>
            <a:pPr indent="-338715" lvl="1" marL="630000" rtl="0" algn="l">
              <a:spcBef>
                <a:spcPts val="848"/>
              </a:spcBef>
              <a:spcAft>
                <a:spcPts val="0"/>
              </a:spcAft>
              <a:buSzPts val="1656"/>
              <a:buChar char="•"/>
            </a:pPr>
            <a:r>
              <a:rPr lang="ru-RU"/>
              <a:t>инкрементальная индексация: обновляются только </a:t>
            </a:r>
            <a:r>
              <a:rPr lang="ru-RU"/>
              <a:t>измененные</a:t>
            </a:r>
            <a:r>
              <a:rPr lang="ru-RU"/>
              <a:t> документы</a:t>
            </a:r>
            <a:endParaRPr/>
          </a:p>
          <a:p>
            <a:pPr indent="-319754" lvl="0" marL="306000" rtl="0" algn="l">
              <a:spcBef>
                <a:spcPts val="879"/>
              </a:spcBef>
              <a:spcAft>
                <a:spcPts val="0"/>
              </a:spcAft>
              <a:buSzPts val="1500"/>
              <a:buChar char="◼"/>
            </a:pPr>
            <a:r>
              <a:rPr b="1" lang="ru-RU" sz="1500"/>
              <a:t>Метаданные в Chroma</a:t>
            </a:r>
            <a:r>
              <a:rPr b="1" lang="ru-RU" sz="1500"/>
              <a:t>:</a:t>
            </a:r>
            <a:endParaRPr sz="1500"/>
          </a:p>
          <a:p>
            <a:pPr indent="-327031" lvl="1" marL="630000" rtl="0" algn="l">
              <a:spcBef>
                <a:spcPts val="848"/>
              </a:spcBef>
              <a:spcAft>
                <a:spcPts val="0"/>
              </a:spcAft>
              <a:buSzPts val="1472"/>
              <a:buFont typeface="Arial"/>
              <a:buChar char="•"/>
            </a:pPr>
            <a:r>
              <a:rPr lang="ru-RU"/>
              <a:t>для каждого чанка: путь к файлу, номер чанка, хеш документа; при загрузке из YAML — также id документа и ссылка на манифест.</a:t>
            </a:r>
            <a:endParaRPr/>
          </a:p>
          <a:p>
            <a:pPr indent="-319754" lvl="0" marL="306000" rtl="0" algn="l">
              <a:spcBef>
                <a:spcPts val="879"/>
              </a:spcBef>
              <a:spcAft>
                <a:spcPts val="0"/>
              </a:spcAft>
              <a:buSzPts val="1500"/>
              <a:buChar char="◼"/>
            </a:pPr>
            <a:r>
              <a:rPr b="1" lang="ru-RU" sz="1500"/>
              <a:t>Тесты и запуск</a:t>
            </a:r>
            <a:r>
              <a:rPr b="1" lang="ru-RU" sz="1500"/>
              <a:t>:</a:t>
            </a:r>
            <a:endParaRPr b="1" sz="1500"/>
          </a:p>
          <a:p>
            <a:pPr indent="-296094" lvl="1" marL="630000" rtl="0" algn="l">
              <a:spcBef>
                <a:spcPts val="879"/>
              </a:spcBef>
              <a:spcAft>
                <a:spcPts val="0"/>
              </a:spcAft>
              <a:buSzPts val="1500"/>
              <a:buChar char="•"/>
            </a:pPr>
            <a:r>
              <a:rPr lang="ru-RU" sz="1500"/>
              <a:t>тесты: tests/data/</a:t>
            </a:r>
            <a:endParaRPr sz="1500"/>
          </a:p>
          <a:p>
            <a:pPr indent="-296094" lvl="1" marL="630000" rtl="0" algn="l">
              <a:spcBef>
                <a:spcPts val="879"/>
              </a:spcBef>
              <a:spcAft>
                <a:spcPts val="0"/>
              </a:spcAft>
              <a:buSzPts val="1500"/>
              <a:buChar char="•"/>
            </a:pPr>
            <a:r>
              <a:rPr lang="ru-RU" sz="1500"/>
              <a:t>Docker Compose: индексация и тесты без ручной настройки окружения</a:t>
            </a:r>
            <a:endParaRPr sz="1500"/>
          </a:p>
          <a:p>
            <a:pPr indent="-319754" lvl="0" marL="306000" rtl="0" algn="l">
              <a:spcBef>
                <a:spcPts val="879"/>
              </a:spcBef>
              <a:spcAft>
                <a:spcPts val="0"/>
              </a:spcAft>
              <a:buSzPts val="1500"/>
              <a:buChar char="◼"/>
            </a:pPr>
            <a:r>
              <a:rPr b="1" lang="ru-RU" sz="1500"/>
              <a:t>Команда для запуска</a:t>
            </a:r>
            <a:r>
              <a:rPr b="1" lang="ru-RU" sz="1500"/>
              <a:t>:</a:t>
            </a:r>
            <a:endParaRPr b="1" sz="1500"/>
          </a:p>
          <a:p>
            <a:pPr indent="-296094" lvl="1" marL="630000" rtl="0" algn="l">
              <a:spcBef>
                <a:spcPts val="879"/>
              </a:spcBef>
              <a:spcAft>
                <a:spcPts val="0"/>
              </a:spcAft>
              <a:buSzPts val="1500"/>
              <a:buChar char="•"/>
            </a:pPr>
            <a:r>
              <a:rPr lang="ru-RU" sz="1500"/>
              <a:t>python -m app.data.indexing.pipeline</a:t>
            </a:r>
            <a:endParaRPr sz="1500"/>
          </a:p>
          <a:p>
            <a:pPr indent="-319754" lvl="0" marL="306000" rtl="0" algn="l">
              <a:spcBef>
                <a:spcPts val="879"/>
              </a:spcBef>
              <a:spcAft>
                <a:spcPts val="0"/>
              </a:spcAft>
              <a:buSzPts val="1500"/>
              <a:buChar char="◼"/>
            </a:pPr>
            <a:r>
              <a:rPr b="1" lang="ru-RU" sz="1500"/>
              <a:t>Текущий масштаб:</a:t>
            </a:r>
            <a:endParaRPr b="1" sz="1500"/>
          </a:p>
          <a:p>
            <a:pPr indent="-296094" lvl="1" marL="630000" rtl="0" algn="l">
              <a:spcBef>
                <a:spcPts val="879"/>
              </a:spcBef>
              <a:spcAft>
                <a:spcPts val="0"/>
              </a:spcAft>
              <a:buSzPts val="1500"/>
              <a:buChar char="•"/>
            </a:pPr>
            <a:r>
              <a:rPr lang="ru-RU" sz="1500"/>
              <a:t>51 документ → 1386 чанков в индексе.</a:t>
            </a:r>
            <a:endParaRPr b="1"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70ed8efd6_0_0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FFFFFF"/>
                </a:solidFill>
              </a:rPr>
              <a:t>БЛОК </a:t>
            </a:r>
            <a:r>
              <a:rPr lang="ru-RU" sz="2700">
                <a:solidFill>
                  <a:srgbClr val="FFFFFF"/>
                </a:solidFill>
              </a:rPr>
              <a:t>«</a:t>
            </a:r>
            <a:r>
              <a:rPr lang="ru-RU">
                <a:solidFill>
                  <a:srgbClr val="FFFFFF"/>
                </a:solidFill>
              </a:rPr>
              <a:t>ПОИСК И ИЗВЛЕЧЕНИЕ ДАННЫХ (RAG)» - РОЛЬ И ПОТОК ДАННЫХ</a:t>
            </a:r>
            <a:endParaRPr/>
          </a:p>
        </p:txBody>
      </p:sp>
      <p:sp>
        <p:nvSpPr>
          <p:cNvPr id="144" name="Google Shape;144;g3e70ed8efd6_0_0"/>
          <p:cNvSpPr txBox="1"/>
          <p:nvPr>
            <p:ph idx="1" type="body"/>
          </p:nvPr>
        </p:nvSpPr>
        <p:spPr>
          <a:xfrm>
            <a:off x="454575" y="2002300"/>
            <a:ext cx="11394900" cy="468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199"/>
              <a:buFont typeface="Arial"/>
              <a:buNone/>
            </a:pPr>
            <a:r>
              <a:rPr b="1" lang="ru-RU" sz="3313">
                <a:solidFill>
                  <a:srgbClr val="3D3D3D"/>
                </a:solidFill>
              </a:rPr>
              <a:t>Зона ответственности:</a:t>
            </a:r>
            <a:r>
              <a:rPr lang="ru-RU" sz="3313">
                <a:solidFill>
                  <a:srgbClr val="3D3D3D"/>
                </a:solidFill>
              </a:rPr>
              <a:t> семантический поиск по векторной базе знаний — по вопросу пользователя находить релевантные фрагменты из ChromaDB и передать в LLM.</a:t>
            </a:r>
            <a:endParaRPr sz="3313">
              <a:solidFill>
                <a:srgbClr val="3D3D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33199"/>
              <a:buFont typeface="Arial"/>
              <a:buNone/>
            </a:pPr>
            <a:r>
              <a:rPr lang="ru-RU" sz="3313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◼ </a:t>
            </a:r>
            <a:r>
              <a:rPr b="1" lang="ru-RU" sz="3313">
                <a:solidFill>
                  <a:srgbClr val="3D3D3D"/>
                </a:solidFill>
              </a:rPr>
              <a:t>Вход:</a:t>
            </a:r>
            <a:endParaRPr b="1" sz="3313">
              <a:solidFill>
                <a:srgbClr val="3D3D3D"/>
              </a:solidFill>
            </a:endParaRPr>
          </a:p>
          <a:p>
            <a:pPr indent="0" lvl="0" marL="469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8031"/>
              <a:buFont typeface="Arial"/>
              <a:buNone/>
            </a:pPr>
            <a:r>
              <a:rPr lang="ru-RU" sz="2892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ru-RU" sz="2892">
                <a:solidFill>
                  <a:srgbClr val="3D3D3D"/>
                </a:solidFill>
              </a:rPr>
              <a:t>текстовый вопрос пользователя</a:t>
            </a:r>
            <a:endParaRPr sz="2892">
              <a:solidFill>
                <a:srgbClr val="3D3D3D"/>
              </a:solidFill>
            </a:endParaRPr>
          </a:p>
          <a:p>
            <a:pPr indent="0" lvl="0" marL="469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8031"/>
              <a:buFont typeface="Arial"/>
              <a:buNone/>
            </a:pPr>
            <a:r>
              <a:rPr lang="ru-RU" sz="2892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ru-RU" sz="2892">
                <a:solidFill>
                  <a:srgbClr val="3D3D3D"/>
                </a:solidFill>
              </a:rPr>
              <a:t>готовый индекс ChromaDB</a:t>
            </a:r>
            <a:endParaRPr sz="2892">
              <a:solidFill>
                <a:srgbClr val="3D3D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3199"/>
              <a:buFont typeface="Arial"/>
              <a:buNone/>
            </a:pPr>
            <a:r>
              <a:rPr lang="ru-RU" sz="3313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◼</a:t>
            </a:r>
            <a:r>
              <a:rPr b="1" lang="ru-RU" sz="3313">
                <a:solidFill>
                  <a:srgbClr val="3D3D3D"/>
                </a:solidFill>
              </a:rPr>
              <a:t> Выход:</a:t>
            </a:r>
            <a:endParaRPr b="1" sz="3313">
              <a:solidFill>
                <a:srgbClr val="3D3D3D"/>
              </a:solidFill>
            </a:endParaRPr>
          </a:p>
          <a:p>
            <a:pPr indent="444500" lvl="0" marL="127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8031"/>
              <a:buFont typeface="Arial"/>
              <a:buNone/>
            </a:pPr>
            <a:r>
              <a:rPr lang="ru-RU" sz="2892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ru-RU" sz="2892">
                <a:solidFill>
                  <a:srgbClr val="3D3D3D"/>
                </a:solidFill>
              </a:rPr>
              <a:t>список RetrievedChunk — фрагменты текста, метаданные и score релевантности</a:t>
            </a:r>
            <a:endParaRPr sz="2892">
              <a:solidFill>
                <a:srgbClr val="3D3D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33199"/>
              <a:buFont typeface="Arial"/>
              <a:buNone/>
            </a:pPr>
            <a:r>
              <a:rPr lang="ru-RU" sz="3313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◼ </a:t>
            </a:r>
            <a:r>
              <a:rPr b="1" lang="ru-RU" sz="3313">
                <a:solidFill>
                  <a:srgbClr val="3D3D3D"/>
                </a:solidFill>
              </a:rPr>
              <a:t>Пайплайн:</a:t>
            </a:r>
            <a:endParaRPr b="1" sz="3313">
              <a:solidFill>
                <a:srgbClr val="3D3D3D"/>
              </a:solidFill>
            </a:endParaRPr>
          </a:p>
          <a:p>
            <a:pPr indent="0" lvl="0" marL="469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38031"/>
              <a:buFont typeface="Arial"/>
              <a:buNone/>
            </a:pPr>
            <a:r>
              <a:rPr lang="ru-RU" sz="2892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r>
              <a:rPr lang="ru-RU" sz="2892">
                <a:solidFill>
                  <a:srgbClr val="3D3D3D"/>
                </a:solidFill>
              </a:rPr>
              <a:t>эмбеддинг запроса через SentenceTransformer (E5, префикс query:)</a:t>
            </a:r>
            <a:endParaRPr sz="2892">
              <a:solidFill>
                <a:srgbClr val="3D3D3D"/>
              </a:solidFill>
            </a:endParaRPr>
          </a:p>
          <a:p>
            <a:pPr indent="0" lvl="0" marL="469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38031"/>
              <a:buFont typeface="Arial"/>
              <a:buNone/>
            </a:pPr>
            <a:r>
              <a:rPr lang="ru-RU" sz="2892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r>
              <a:rPr lang="ru-RU" sz="2892">
                <a:solidFill>
                  <a:srgbClr val="3D3D3D"/>
                </a:solidFill>
              </a:rPr>
              <a:t>векторный поиск в Chroma, маппинг в RetrievedChunk</a:t>
            </a:r>
            <a:endParaRPr sz="2892">
              <a:solidFill>
                <a:srgbClr val="3D3D3D"/>
              </a:solidFill>
            </a:endParaRPr>
          </a:p>
          <a:p>
            <a:pPr indent="0" lvl="0" marL="469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38031"/>
              <a:buFont typeface="Arial"/>
              <a:buNone/>
            </a:pPr>
            <a:r>
              <a:rPr lang="ru-RU" sz="2892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r>
              <a:rPr lang="ru-RU" sz="2892">
                <a:solidFill>
                  <a:srgbClr val="3D3D3D"/>
                </a:solidFill>
              </a:rPr>
              <a:t>лексический rerank: физлицо vs юрлицо по маркерам в тексте и source_path</a:t>
            </a:r>
            <a:endParaRPr sz="2892">
              <a:solidFill>
                <a:srgbClr val="3D3D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33199"/>
              <a:buFont typeface="Arial"/>
              <a:buNone/>
            </a:pPr>
            <a:r>
              <a:rPr lang="ru-RU" sz="3313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◼ </a:t>
            </a:r>
            <a:r>
              <a:rPr b="1" lang="ru-RU" sz="3313">
                <a:solidFill>
                  <a:srgbClr val="3D3D3D"/>
                </a:solidFill>
              </a:rPr>
              <a:t>Связь:</a:t>
            </a:r>
            <a:endParaRPr b="1" sz="3313">
              <a:solidFill>
                <a:srgbClr val="3D3D3D"/>
              </a:solidFill>
            </a:endParaRPr>
          </a:p>
          <a:p>
            <a:pPr indent="444500" lvl="0" marL="127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38031"/>
              <a:buFont typeface="Arial"/>
              <a:buNone/>
            </a:pPr>
            <a:r>
              <a:rPr lang="ru-RU" sz="2892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r>
              <a:rPr lang="ru-RU" sz="2892">
                <a:solidFill>
                  <a:srgbClr val="3D3D3D"/>
                </a:solidFill>
              </a:rPr>
              <a:t>Dev 4 строит индекс (префикс passage:); Dev 2 только читает коллекцию (префикс query:). Dev 3 получает чанки и передаёт в LLM; Dev 1 запускает цепочку через API.</a:t>
            </a:r>
            <a:endParaRPr sz="2892">
              <a:solidFill>
                <a:srgbClr val="3D3D3D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70ed8efd6_0_7"/>
          <p:cNvSpPr txBox="1"/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-RU">
                <a:solidFill>
                  <a:srgbClr val="FFFFFF"/>
                </a:solidFill>
              </a:rPr>
              <a:t>БЛОК </a:t>
            </a:r>
            <a:r>
              <a:rPr lang="ru-RU" sz="2700">
                <a:solidFill>
                  <a:srgbClr val="FFFFFF"/>
                </a:solidFill>
              </a:rPr>
              <a:t>«</a:t>
            </a:r>
            <a:r>
              <a:rPr lang="ru-RU">
                <a:solidFill>
                  <a:srgbClr val="FFFFFF"/>
                </a:solidFill>
              </a:rPr>
              <a:t>ПОИСК И ИЗВЛЕЧЕНИЕ ДАННЫХ (RAG)» - ЧТО РЕАЛИЗОВАНО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e70ed8efd6_0_7"/>
          <p:cNvSpPr/>
          <p:nvPr/>
        </p:nvSpPr>
        <p:spPr>
          <a:xfrm>
            <a:off x="581200" y="2790575"/>
            <a:ext cx="3527700" cy="3520800"/>
          </a:xfrm>
          <a:prstGeom prst="roundRect">
            <a:avLst>
              <a:gd fmla="val 16667" name="adj"/>
            </a:avLst>
          </a:prstGeom>
          <a:solidFill>
            <a:srgbClr val="F0F5FC"/>
          </a:solidFill>
          <a:ln cap="flat" cmpd="sng" w="9525">
            <a:solidFill>
              <a:srgbClr val="C8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300">
                <a:solidFill>
                  <a:srgbClr val="4590B8"/>
                </a:solidFill>
              </a:rPr>
              <a:t>•</a:t>
            </a:r>
            <a:r>
              <a:rPr lang="ru-RU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search_context(question, top_k) — главная точка входа RAG, возвращает list[RetrievedChunk]</a:t>
            </a:r>
            <a:endParaRPr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300">
                <a:solidFill>
                  <a:srgbClr val="4590B8"/>
                </a:solidFill>
              </a:rPr>
              <a:t>•</a:t>
            </a:r>
            <a:r>
              <a:rPr lang="ru-RU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эмбеддинг через E5 (префикс query:, normalize_embeddings=True); векторный поиск в Chroma</a:t>
            </a:r>
            <a:endParaRPr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300">
                <a:solidFill>
                  <a:srgbClr val="4590B8"/>
                </a:solidFill>
              </a:rPr>
              <a:t>•</a:t>
            </a:r>
            <a:r>
              <a:rPr lang="ru-RU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distance_to_score: расстояние → score 0..1; кэш модели и коллекции (lru_cache); обработка ошибок (RetrievalError / EmbeddingError)</a:t>
            </a:r>
            <a:endParaRPr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1" name="Google Shape;151;g3e70ed8efd6_0_7"/>
          <p:cNvSpPr txBox="1"/>
          <p:nvPr/>
        </p:nvSpPr>
        <p:spPr>
          <a:xfrm>
            <a:off x="1220800" y="2294750"/>
            <a:ext cx="187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◼</a:t>
            </a:r>
            <a:r>
              <a:rPr b="1" lang="ru-RU" sz="15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Модуль app/rag/:</a:t>
            </a:r>
            <a:endParaRPr b="1" sz="1500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2" name="Google Shape;152;g3e70ed8efd6_0_7"/>
          <p:cNvSpPr/>
          <p:nvPr/>
        </p:nvSpPr>
        <p:spPr>
          <a:xfrm>
            <a:off x="8319800" y="2881650"/>
            <a:ext cx="3291000" cy="3520800"/>
          </a:xfrm>
          <a:prstGeom prst="roundRect">
            <a:avLst>
              <a:gd fmla="val 16667" name="adj"/>
            </a:avLst>
          </a:prstGeom>
          <a:solidFill>
            <a:srgbClr val="F0F5FC"/>
          </a:solidFill>
          <a:ln cap="flat" cmpd="sng" w="9525">
            <a:solidFill>
              <a:srgbClr val="C8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500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r>
              <a:rPr lang="ru-RU" sz="15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tests/rag/test_retriever.py: успешный поиск, пустые входы, ошибки, rerank физлицо vs юрлицо</a:t>
            </a:r>
            <a:endParaRPr sz="1500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500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•</a:t>
            </a:r>
            <a:r>
              <a:rPr lang="ru-RU" sz="15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docs/DEV2_VECTOR_STORE.m</a:t>
            </a:r>
            <a:r>
              <a:rPr lang="ru-RU" sz="15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d</a:t>
            </a:r>
            <a:r>
              <a:rPr lang="ru-RU" sz="15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: подключение к индексу Dev 4, префиксы E5, контракт metadata</a:t>
            </a:r>
            <a:endParaRPr sz="1500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g3e70ed8efd6_0_7"/>
          <p:cNvSpPr/>
          <p:nvPr/>
        </p:nvSpPr>
        <p:spPr>
          <a:xfrm>
            <a:off x="4714300" y="2790575"/>
            <a:ext cx="3000000" cy="3520800"/>
          </a:xfrm>
          <a:prstGeom prst="roundRect">
            <a:avLst>
              <a:gd fmla="val 16667" name="adj"/>
            </a:avLst>
          </a:prstGeom>
          <a:solidFill>
            <a:srgbClr val="F0F5FC"/>
          </a:solidFill>
          <a:ln cap="flat" cmpd="sng" w="9525">
            <a:solidFill>
              <a:srgbClr val="C8D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500">
                <a:solidFill>
                  <a:srgbClr val="4590B8"/>
                </a:solidFill>
              </a:rPr>
              <a:t>•</a:t>
            </a:r>
            <a:r>
              <a:rPr lang="ru-RU" sz="16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лексический rerank поверх векторного: score = (1-w) × векторный + w × лексический</a:t>
            </a:r>
            <a:endParaRPr sz="1600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500">
                <a:solidFill>
                  <a:srgbClr val="4590B8"/>
                </a:solidFill>
              </a:rPr>
              <a:t>•</a:t>
            </a:r>
            <a:r>
              <a:rPr lang="ru-RU" sz="16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приоритет чанков физлицо / юрлицо по маркерам в тексте и source_path (fizlic, yurilic)</a:t>
            </a:r>
            <a:endParaRPr sz="1600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g3e70ed8efd6_0_7"/>
          <p:cNvSpPr txBox="1"/>
          <p:nvPr/>
        </p:nvSpPr>
        <p:spPr>
          <a:xfrm>
            <a:off x="4595950" y="229475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◼</a:t>
            </a:r>
            <a:r>
              <a:rPr b="1" lang="ru-RU" sz="15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Rerank (app/rag/rerank.py):</a:t>
            </a:r>
            <a:endParaRPr b="1" sz="1500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5" name="Google Shape;155;g3e70ed8efd6_0_7"/>
          <p:cNvSpPr txBox="1"/>
          <p:nvPr/>
        </p:nvSpPr>
        <p:spPr>
          <a:xfrm>
            <a:off x="8749450" y="2294750"/>
            <a:ext cx="2485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4590B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◼</a:t>
            </a:r>
            <a:r>
              <a:rPr b="1" lang="ru-RU" sz="15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Тесты и документация:</a:t>
            </a:r>
            <a:endParaRPr b="1" sz="1500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c87a8fffd_0_0"/>
          <p:cNvSpPr txBox="1"/>
          <p:nvPr/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ru-RU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БЛОК </a:t>
            </a:r>
            <a:r>
              <a:rPr b="0" i="0" lang="ru-RU" sz="27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«</a:t>
            </a:r>
            <a:r>
              <a:rPr b="0" i="0" lang="ru-RU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ИНТЕГРАЦИЯ С ЯЗЫКОВОЙ МОДЕЛЬЮ (LLM)» - РОЛЬ И ПОТОК ДАННЫХ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ec87a8fffd_0_0"/>
          <p:cNvSpPr txBox="1"/>
          <p:nvPr/>
        </p:nvSpPr>
        <p:spPr>
          <a:xfrm>
            <a:off x="132650" y="2829375"/>
            <a:ext cx="23964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25" lIns="95825" spcFirstLastPara="1" rIns="95825" wrap="square" tIns="479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943" u="none" cap="none" strike="noStrike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ВХОД</a:t>
            </a:r>
            <a:endParaRPr sz="1468"/>
          </a:p>
        </p:txBody>
      </p:sp>
      <p:sp>
        <p:nvSpPr>
          <p:cNvPr id="162" name="Google Shape;162;g3ec87a8fffd_0_0"/>
          <p:cNvSpPr/>
          <p:nvPr/>
        </p:nvSpPr>
        <p:spPr>
          <a:xfrm>
            <a:off x="180584" y="3164872"/>
            <a:ext cx="2540100" cy="671100"/>
          </a:xfrm>
          <a:prstGeom prst="rect">
            <a:avLst/>
          </a:prstGeom>
          <a:solidFill>
            <a:srgbClr val="F0F5FC"/>
          </a:solidFill>
          <a:ln cap="flat" cmpd="sng" w="9975">
            <a:solidFill>
              <a:srgbClr val="4590B8"/>
            </a:solidFill>
            <a:prstDash val="solid"/>
            <a:round/>
            <a:headEnd len="sm" w="sm" type="none"/>
            <a:tailEnd len="sm" w="sm" type="none"/>
          </a:ln>
          <a:effectLst>
            <a:outerShdw blurRad="41933" rotWithShape="0" dir="5400000" dist="24111">
              <a:srgbClr val="000000">
                <a:alpha val="34900"/>
              </a:srgbClr>
            </a:outerShdw>
          </a:effectLst>
        </p:spPr>
        <p:txBody>
          <a:bodyPr anchorCtr="0" anchor="ctr" bIns="47925" lIns="95825" spcFirstLastPara="1" rIns="95825" wrap="square" tIns="47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6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ec87a8fffd_0_0"/>
          <p:cNvSpPr txBox="1"/>
          <p:nvPr/>
        </p:nvSpPr>
        <p:spPr>
          <a:xfrm>
            <a:off x="180579" y="3212806"/>
            <a:ext cx="1437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25" lIns="95825" spcFirstLastPara="1" rIns="95825" wrap="square" tIns="47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943" u="none" cap="none" strike="noStrik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question: str</a:t>
            </a:r>
            <a:endParaRPr sz="1468"/>
          </a:p>
        </p:txBody>
      </p:sp>
      <p:sp>
        <p:nvSpPr>
          <p:cNvPr id="164" name="Google Shape;164;g3ec87a8fffd_0_0"/>
          <p:cNvSpPr txBox="1"/>
          <p:nvPr/>
        </p:nvSpPr>
        <p:spPr>
          <a:xfrm>
            <a:off x="180579" y="3433279"/>
            <a:ext cx="23007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25" lIns="95825" spcFirstLastPara="1" rIns="95825" wrap="square" tIns="47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839" u="none" cap="none" strike="noStrik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Вопрос от пользователя</a:t>
            </a:r>
            <a:endParaRPr sz="1468"/>
          </a:p>
        </p:txBody>
      </p:sp>
      <p:sp>
        <p:nvSpPr>
          <p:cNvPr id="165" name="Google Shape;165;g3ec87a8fffd_0_0"/>
          <p:cNvSpPr/>
          <p:nvPr/>
        </p:nvSpPr>
        <p:spPr>
          <a:xfrm>
            <a:off x="180584" y="3979673"/>
            <a:ext cx="2540100" cy="719100"/>
          </a:xfrm>
          <a:prstGeom prst="rect">
            <a:avLst/>
          </a:prstGeom>
          <a:solidFill>
            <a:srgbClr val="F0F5FC"/>
          </a:solidFill>
          <a:ln cap="flat" cmpd="sng" w="9975">
            <a:solidFill>
              <a:srgbClr val="4590B8"/>
            </a:solidFill>
            <a:prstDash val="solid"/>
            <a:round/>
            <a:headEnd len="sm" w="sm" type="none"/>
            <a:tailEnd len="sm" w="sm" type="none"/>
          </a:ln>
          <a:effectLst>
            <a:outerShdw blurRad="41933" rotWithShape="0" dir="5400000" dist="24111">
              <a:srgbClr val="000000">
                <a:alpha val="34900"/>
              </a:srgbClr>
            </a:outerShdw>
          </a:effectLst>
        </p:spPr>
        <p:txBody>
          <a:bodyPr anchorCtr="0" anchor="ctr" bIns="47925" lIns="95825" spcFirstLastPara="1" rIns="95825" wrap="square" tIns="47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6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ec87a8fffd_0_0"/>
          <p:cNvSpPr txBox="1"/>
          <p:nvPr/>
        </p:nvSpPr>
        <p:spPr>
          <a:xfrm>
            <a:off x="180579" y="4027597"/>
            <a:ext cx="24924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25" lIns="95825" spcFirstLastPara="1" rIns="95825" wrap="square" tIns="47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839" u="none" cap="none" strike="noStrik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context_chunks</a:t>
            </a:r>
            <a:endParaRPr sz="1468"/>
          </a:p>
        </p:txBody>
      </p:sp>
      <p:sp>
        <p:nvSpPr>
          <p:cNvPr id="167" name="Google Shape;167;g3ec87a8fffd_0_0"/>
          <p:cNvSpPr txBox="1"/>
          <p:nvPr/>
        </p:nvSpPr>
        <p:spPr>
          <a:xfrm>
            <a:off x="180579" y="4295998"/>
            <a:ext cx="2492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25" lIns="95825" spcFirstLastPara="1" rIns="95825" wrap="square" tIns="47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839" u="none" cap="none" strike="noStrik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Релевантные фрагменты из базы знаний (с оценкой совпадения)</a:t>
            </a:r>
            <a:endParaRPr sz="1468"/>
          </a:p>
        </p:txBody>
      </p:sp>
      <p:sp>
        <p:nvSpPr>
          <p:cNvPr id="168" name="Google Shape;168;g3ec87a8fffd_0_0"/>
          <p:cNvSpPr/>
          <p:nvPr/>
        </p:nvSpPr>
        <p:spPr>
          <a:xfrm>
            <a:off x="180584" y="4842382"/>
            <a:ext cx="2540100" cy="671100"/>
          </a:xfrm>
          <a:prstGeom prst="rect">
            <a:avLst/>
          </a:prstGeom>
          <a:solidFill>
            <a:srgbClr val="F0F5FC"/>
          </a:solidFill>
          <a:ln cap="flat" cmpd="sng" w="9975">
            <a:solidFill>
              <a:srgbClr val="4590B8"/>
            </a:solidFill>
            <a:prstDash val="solid"/>
            <a:round/>
            <a:headEnd len="sm" w="sm" type="none"/>
            <a:tailEnd len="sm" w="sm" type="none"/>
          </a:ln>
          <a:effectLst>
            <a:outerShdw blurRad="41933" rotWithShape="0" dir="5400000" dist="24111">
              <a:srgbClr val="000000">
                <a:alpha val="34900"/>
              </a:srgbClr>
            </a:outerShdw>
          </a:effectLst>
        </p:spPr>
        <p:txBody>
          <a:bodyPr anchorCtr="0" anchor="ctr" bIns="47925" lIns="95825" spcFirstLastPara="1" rIns="95825" wrap="square" tIns="47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6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ec87a8fffd_0_0"/>
          <p:cNvSpPr txBox="1"/>
          <p:nvPr/>
        </p:nvSpPr>
        <p:spPr>
          <a:xfrm>
            <a:off x="180579" y="4890316"/>
            <a:ext cx="24924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25" lIns="95825" spcFirstLastPara="1" rIns="95825" wrap="square" tIns="47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943" u="none" cap="none" strike="noStrik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history</a:t>
            </a:r>
            <a:endParaRPr sz="1468"/>
          </a:p>
        </p:txBody>
      </p:sp>
      <p:sp>
        <p:nvSpPr>
          <p:cNvPr id="170" name="Google Shape;170;g3ec87a8fffd_0_0"/>
          <p:cNvSpPr txBox="1"/>
          <p:nvPr/>
        </p:nvSpPr>
        <p:spPr>
          <a:xfrm>
            <a:off x="180579" y="5101203"/>
            <a:ext cx="23007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25" lIns="95825" spcFirstLastPara="1" rIns="95825" wrap="square" tIns="47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839" u="none" cap="none" strike="noStrik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Последние сообщения диалога для сохранения контекста</a:t>
            </a:r>
            <a:endParaRPr sz="1468"/>
          </a:p>
        </p:txBody>
      </p:sp>
      <p:sp>
        <p:nvSpPr>
          <p:cNvPr id="171" name="Google Shape;171;g3ec87a8fffd_0_0"/>
          <p:cNvSpPr txBox="1"/>
          <p:nvPr/>
        </p:nvSpPr>
        <p:spPr>
          <a:xfrm>
            <a:off x="3871118" y="2829375"/>
            <a:ext cx="43134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25" lIns="95825" spcFirstLastPara="1" rIns="95825" wrap="square" tIns="479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943" u="none" cap="none" strike="noStrik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ОБРАБОТКА</a:t>
            </a:r>
            <a:endParaRPr sz="1468"/>
          </a:p>
        </p:txBody>
      </p:sp>
      <p:sp>
        <p:nvSpPr>
          <p:cNvPr id="172" name="Google Shape;172;g3ec87a8fffd_0_0"/>
          <p:cNvSpPr/>
          <p:nvPr/>
        </p:nvSpPr>
        <p:spPr>
          <a:xfrm>
            <a:off x="3104253" y="3164877"/>
            <a:ext cx="5847300" cy="671100"/>
          </a:xfrm>
          <a:prstGeom prst="rect">
            <a:avLst/>
          </a:prstGeom>
          <a:solidFill>
            <a:srgbClr val="1A3260"/>
          </a:solidFill>
          <a:ln>
            <a:noFill/>
          </a:ln>
          <a:effectLst>
            <a:outerShdw blurRad="41933" rotWithShape="0" dir="5400000" dist="24111">
              <a:srgbClr val="000000">
                <a:alpha val="34900"/>
              </a:srgbClr>
            </a:outerShdw>
          </a:effectLst>
        </p:spPr>
        <p:txBody>
          <a:bodyPr anchorCtr="0" anchor="ctr" bIns="47925" lIns="95825" spcFirstLastPara="1" rIns="95825" wrap="square" tIns="47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6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ec87a8fffd_0_0"/>
          <p:cNvSpPr txBox="1"/>
          <p:nvPr/>
        </p:nvSpPr>
        <p:spPr>
          <a:xfrm>
            <a:off x="3295969" y="3212806"/>
            <a:ext cx="33552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25" lIns="95825" spcFirstLastPara="1" rIns="95825" wrap="square" tIns="47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9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 Фильтрация чанков</a:t>
            </a:r>
            <a:endParaRPr sz="1468"/>
          </a:p>
        </p:txBody>
      </p:sp>
      <p:sp>
        <p:nvSpPr>
          <p:cNvPr id="174" name="Google Shape;174;g3ec87a8fffd_0_0"/>
          <p:cNvSpPr txBox="1"/>
          <p:nvPr/>
        </p:nvSpPr>
        <p:spPr>
          <a:xfrm>
            <a:off x="3295969" y="3423693"/>
            <a:ext cx="38343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25" lIns="95825" spcFirstLastPara="1" rIns="95825" wrap="square" tIns="47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839" u="none" cap="none" strike="noStrike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Отсеиваем фрагменты с оценкой ниже 0.4</a:t>
            </a:r>
            <a:r>
              <a:rPr lang="ru-RU" sz="839">
                <a:solidFill>
                  <a:srgbClr val="45CBE8"/>
                </a:solidFill>
              </a:rPr>
              <a:t>, т.к.</a:t>
            </a:r>
            <a:r>
              <a:rPr b="0" i="0" lang="ru-RU" sz="839" u="none" cap="none" strike="noStrike">
                <a:solidFill>
                  <a:srgbClr val="45CBE8"/>
                </a:solidFill>
                <a:latin typeface="Arial"/>
                <a:ea typeface="Arial"/>
                <a:cs typeface="Arial"/>
                <a:sym typeface="Arial"/>
              </a:rPr>
              <a:t> они не помогут ответить</a:t>
            </a:r>
            <a:endParaRPr sz="1468"/>
          </a:p>
        </p:txBody>
      </p:sp>
      <p:sp>
        <p:nvSpPr>
          <p:cNvPr id="175" name="Google Shape;175;g3ec87a8fffd_0_0"/>
          <p:cNvSpPr/>
          <p:nvPr/>
        </p:nvSpPr>
        <p:spPr>
          <a:xfrm>
            <a:off x="3104253" y="3979668"/>
            <a:ext cx="5847300" cy="719100"/>
          </a:xfrm>
          <a:prstGeom prst="rect">
            <a:avLst/>
          </a:prstGeom>
          <a:solidFill>
            <a:srgbClr val="4590B8"/>
          </a:solidFill>
          <a:ln>
            <a:noFill/>
          </a:ln>
          <a:effectLst>
            <a:outerShdw blurRad="41933" rotWithShape="0" dir="5400000" dist="24111">
              <a:srgbClr val="000000">
                <a:alpha val="34900"/>
              </a:srgbClr>
            </a:outerShdw>
          </a:effectLst>
        </p:spPr>
        <p:txBody>
          <a:bodyPr anchorCtr="0" anchor="ctr" bIns="47925" lIns="95825" spcFirstLastPara="1" rIns="95825" wrap="square" tIns="47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6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ec87a8fffd_0_0"/>
          <p:cNvSpPr txBox="1"/>
          <p:nvPr/>
        </p:nvSpPr>
        <p:spPr>
          <a:xfrm>
            <a:off x="3295969" y="4027597"/>
            <a:ext cx="36426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25" lIns="95825" spcFirstLastPara="1" rIns="95825" wrap="square" tIns="47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94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 Сборка системного промпта</a:t>
            </a:r>
            <a:endParaRPr sz="1468"/>
          </a:p>
        </p:txBody>
      </p:sp>
      <p:sp>
        <p:nvSpPr>
          <p:cNvPr id="177" name="Google Shape;177;g3ec87a8fffd_0_0"/>
          <p:cNvSpPr txBox="1"/>
          <p:nvPr/>
        </p:nvSpPr>
        <p:spPr>
          <a:xfrm>
            <a:off x="3295969" y="4248070"/>
            <a:ext cx="52722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25" lIns="95825" spcFirstLastPara="1" rIns="95825" wrap="square" tIns="47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839" u="none" cap="none" strike="noStrike">
                <a:solidFill>
                  <a:srgbClr val="DCF0FF"/>
                </a:solidFill>
                <a:latin typeface="Arial"/>
                <a:ea typeface="Arial"/>
                <a:cs typeface="Arial"/>
                <a:sym typeface="Arial"/>
              </a:rPr>
              <a:t>Собираем промпт: инструкция + нужные фрагменты + история переписки</a:t>
            </a:r>
            <a:endParaRPr sz="1468"/>
          </a:p>
        </p:txBody>
      </p:sp>
      <p:sp>
        <p:nvSpPr>
          <p:cNvPr id="178" name="Google Shape;178;g3ec87a8fffd_0_0"/>
          <p:cNvSpPr/>
          <p:nvPr/>
        </p:nvSpPr>
        <p:spPr>
          <a:xfrm>
            <a:off x="3104253" y="4842388"/>
            <a:ext cx="5847300" cy="671100"/>
          </a:xfrm>
          <a:prstGeom prst="rect">
            <a:avLst/>
          </a:prstGeom>
          <a:solidFill>
            <a:srgbClr val="DCF0FF"/>
          </a:solidFill>
          <a:ln>
            <a:noFill/>
          </a:ln>
          <a:effectLst>
            <a:outerShdw blurRad="41933" rotWithShape="0" dir="5400000" dist="24111">
              <a:srgbClr val="000000">
                <a:alpha val="34900"/>
              </a:srgbClr>
            </a:outerShdw>
          </a:effectLst>
        </p:spPr>
        <p:txBody>
          <a:bodyPr anchorCtr="0" anchor="ctr" bIns="47925" lIns="95825" spcFirstLastPara="1" rIns="95825" wrap="square" tIns="47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6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ec87a8fffd_0_0"/>
          <p:cNvSpPr txBox="1"/>
          <p:nvPr/>
        </p:nvSpPr>
        <p:spPr>
          <a:xfrm>
            <a:off x="3295969" y="4890316"/>
            <a:ext cx="33552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25" lIns="95825" spcFirstLastPara="1" rIns="95825" wrap="square" tIns="47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943" u="none" cap="none" strike="noStrik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③ Вызов LLM / Fallback</a:t>
            </a:r>
            <a:endParaRPr sz="1468"/>
          </a:p>
        </p:txBody>
      </p:sp>
      <p:sp>
        <p:nvSpPr>
          <p:cNvPr id="180" name="Google Shape;180;g3ec87a8fffd_0_0"/>
          <p:cNvSpPr txBox="1"/>
          <p:nvPr/>
        </p:nvSpPr>
        <p:spPr>
          <a:xfrm>
            <a:off x="3295969" y="5101203"/>
            <a:ext cx="52722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25" lIns="95825" spcFirstLastPara="1" rIns="95825" wrap="square" tIns="47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839" u="none" cap="none" strike="noStrik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Если подходящего контекста нет</a:t>
            </a:r>
            <a:r>
              <a:rPr lang="ru-RU" sz="839">
                <a:solidFill>
                  <a:srgbClr val="1A3260"/>
                </a:solidFill>
              </a:rPr>
              <a:t>, то</a:t>
            </a:r>
            <a:r>
              <a:rPr b="0" i="0" lang="ru-RU" sz="839" u="none" cap="none" strike="noStrik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 отвечаем без обращения к LLM</a:t>
            </a:r>
            <a:endParaRPr sz="1468"/>
          </a:p>
        </p:txBody>
      </p:sp>
      <p:sp>
        <p:nvSpPr>
          <p:cNvPr id="181" name="Google Shape;181;g3ec87a8fffd_0_0"/>
          <p:cNvSpPr txBox="1"/>
          <p:nvPr/>
        </p:nvSpPr>
        <p:spPr>
          <a:xfrm>
            <a:off x="9485897" y="3692153"/>
            <a:ext cx="23964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25" lIns="95825" spcFirstLastPara="1" rIns="95825" wrap="square" tIns="479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943" u="none" cap="none" strike="noStrike">
                <a:solidFill>
                  <a:srgbClr val="A2C777"/>
                </a:solidFill>
                <a:latin typeface="Arial"/>
                <a:ea typeface="Arial"/>
                <a:cs typeface="Arial"/>
                <a:sym typeface="Arial"/>
              </a:rPr>
              <a:t>ВЫХОД</a:t>
            </a:r>
            <a:endParaRPr sz="1468"/>
          </a:p>
        </p:txBody>
      </p:sp>
      <p:sp>
        <p:nvSpPr>
          <p:cNvPr id="182" name="Google Shape;182;g3ec87a8fffd_0_0"/>
          <p:cNvSpPr/>
          <p:nvPr/>
        </p:nvSpPr>
        <p:spPr>
          <a:xfrm>
            <a:off x="9464090" y="4027663"/>
            <a:ext cx="2588400" cy="671100"/>
          </a:xfrm>
          <a:prstGeom prst="rect">
            <a:avLst/>
          </a:prstGeom>
          <a:solidFill>
            <a:srgbClr val="F0FAF0"/>
          </a:solidFill>
          <a:ln cap="flat" cmpd="sng" w="13300">
            <a:solidFill>
              <a:srgbClr val="A2C777"/>
            </a:solidFill>
            <a:prstDash val="solid"/>
            <a:round/>
            <a:headEnd len="sm" w="sm" type="none"/>
            <a:tailEnd len="sm" w="sm" type="none"/>
          </a:ln>
          <a:effectLst>
            <a:outerShdw blurRad="41933" rotWithShape="0" dir="5400000" dist="24111">
              <a:srgbClr val="000000">
                <a:alpha val="34900"/>
              </a:srgbClr>
            </a:outerShdw>
          </a:effectLst>
        </p:spPr>
        <p:txBody>
          <a:bodyPr anchorCtr="0" anchor="ctr" bIns="47925" lIns="95825" spcFirstLastPara="1" rIns="95825" wrap="square" tIns="47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6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ec87a8fffd_0_0"/>
          <p:cNvSpPr txBox="1"/>
          <p:nvPr/>
        </p:nvSpPr>
        <p:spPr>
          <a:xfrm>
            <a:off x="9703726" y="4075584"/>
            <a:ext cx="23964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25" lIns="95825" spcFirstLastPara="1" rIns="95825" wrap="square" tIns="47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943" u="none" cap="none" strike="noStrike">
                <a:solidFill>
                  <a:srgbClr val="327832"/>
                </a:solidFill>
                <a:latin typeface="Arial"/>
                <a:ea typeface="Arial"/>
                <a:cs typeface="Arial"/>
                <a:sym typeface="Arial"/>
              </a:rPr>
              <a:t>Текст ответа</a:t>
            </a:r>
            <a:endParaRPr sz="1468"/>
          </a:p>
        </p:txBody>
      </p:sp>
      <p:sp>
        <p:nvSpPr>
          <p:cNvPr id="184" name="Google Shape;184;g3ec87a8fffd_0_0"/>
          <p:cNvSpPr txBox="1"/>
          <p:nvPr/>
        </p:nvSpPr>
        <p:spPr>
          <a:xfrm>
            <a:off x="9595601" y="4296007"/>
            <a:ext cx="23964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25" lIns="95825" spcFirstLastPara="1" rIns="95825" wrap="square" tIns="47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839" u="none" cap="none" strike="noStrik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+ признак: найден ли релевантный ответ</a:t>
            </a:r>
            <a:endParaRPr sz="1468"/>
          </a:p>
        </p:txBody>
      </p:sp>
      <p:sp>
        <p:nvSpPr>
          <p:cNvPr id="185" name="Google Shape;185;g3ec87a8fffd_0_0"/>
          <p:cNvSpPr txBox="1"/>
          <p:nvPr/>
        </p:nvSpPr>
        <p:spPr>
          <a:xfrm>
            <a:off x="2768762" y="4201828"/>
            <a:ext cx="2874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25" lIns="95825" spcFirstLastPara="1" rIns="95825" wrap="square" tIns="47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468" u="none" cap="none" strike="noStrike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468"/>
          </a:p>
        </p:txBody>
      </p:sp>
      <p:sp>
        <p:nvSpPr>
          <p:cNvPr id="186" name="Google Shape;186;g3ec87a8fffd_0_0"/>
          <p:cNvSpPr txBox="1"/>
          <p:nvPr/>
        </p:nvSpPr>
        <p:spPr>
          <a:xfrm>
            <a:off x="9009829" y="4186928"/>
            <a:ext cx="2874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25" lIns="95825" spcFirstLastPara="1" rIns="95825" wrap="square" tIns="47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468" u="none" cap="none" strike="noStrike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468"/>
          </a:p>
        </p:txBody>
      </p:sp>
      <p:sp>
        <p:nvSpPr>
          <p:cNvPr id="187" name="Google Shape;187;g3ec87a8fffd_0_0"/>
          <p:cNvSpPr txBox="1"/>
          <p:nvPr/>
        </p:nvSpPr>
        <p:spPr>
          <a:xfrm>
            <a:off x="446300" y="1959900"/>
            <a:ext cx="109155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-RU">
                <a:solidFill>
                  <a:schemeClr val="dk1"/>
                </a:solidFill>
              </a:rPr>
              <a:t>Связующее звено между слоем поиска (RAG) и API‑слоем - принимает контекст и историю диалога, формирует промпт, возвращает ответ модели.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c87a8fffd_0_118"/>
          <p:cNvSpPr txBox="1"/>
          <p:nvPr/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0" i="0" lang="ru-RU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БЛОК </a:t>
            </a:r>
            <a:r>
              <a:rPr b="0" i="0" lang="ru-RU" sz="27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«</a:t>
            </a:r>
            <a:r>
              <a:rPr b="0" i="0" lang="ru-RU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ИНТЕГРАЦИЯ С ЯЗЫКОВОЙ МОДЕЛЬЮ (LLM)» - ЧТО РЕАЛИЗОВАНО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ec87a8fffd_0_118"/>
          <p:cNvSpPr/>
          <p:nvPr/>
        </p:nvSpPr>
        <p:spPr>
          <a:xfrm>
            <a:off x="540070" y="2205910"/>
            <a:ext cx="3566100" cy="411600"/>
          </a:xfrm>
          <a:prstGeom prst="rect">
            <a:avLst/>
          </a:prstGeom>
          <a:solidFill>
            <a:srgbClr val="1A326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ec87a8fffd_0_118"/>
          <p:cNvSpPr txBox="1"/>
          <p:nvPr/>
        </p:nvSpPr>
        <p:spPr>
          <a:xfrm>
            <a:off x="631510" y="2269918"/>
            <a:ext cx="3383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🔧  Ключевые возможности</a:t>
            </a:r>
            <a:endParaRPr/>
          </a:p>
        </p:txBody>
      </p:sp>
      <p:sp>
        <p:nvSpPr>
          <p:cNvPr id="195" name="Google Shape;195;g3ec87a8fffd_0_118"/>
          <p:cNvSpPr/>
          <p:nvPr/>
        </p:nvSpPr>
        <p:spPr>
          <a:xfrm>
            <a:off x="540070" y="2708830"/>
            <a:ext cx="3566100" cy="658500"/>
          </a:xfrm>
          <a:prstGeom prst="rect">
            <a:avLst/>
          </a:prstGeom>
          <a:solidFill>
            <a:srgbClr val="F0F5FC"/>
          </a:solidFill>
          <a:ln cap="flat" cmpd="sng" w="9525">
            <a:solidFill>
              <a:srgbClr val="C8DC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ec87a8fffd_0_118"/>
          <p:cNvSpPr txBox="1"/>
          <p:nvPr/>
        </p:nvSpPr>
        <p:spPr>
          <a:xfrm>
            <a:off x="677229" y="2754550"/>
            <a:ext cx="3291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900" u="none" cap="none" strike="noStrik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OpenAI-compatible провайдер</a:t>
            </a:r>
            <a:endParaRPr/>
          </a:p>
        </p:txBody>
      </p:sp>
      <p:sp>
        <p:nvSpPr>
          <p:cNvPr id="197" name="Google Shape;197;g3ec87a8fffd_0_118"/>
          <p:cNvSpPr txBox="1"/>
          <p:nvPr/>
        </p:nvSpPr>
        <p:spPr>
          <a:xfrm>
            <a:off x="677229" y="3010582"/>
            <a:ext cx="329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800" u="none" cap="none" strike="noStrik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Один провайдер работает с YandexGPT, GigaChat и любым OpenAI-совместимым API</a:t>
            </a:r>
            <a:endParaRPr/>
          </a:p>
        </p:txBody>
      </p:sp>
      <p:sp>
        <p:nvSpPr>
          <p:cNvPr id="198" name="Google Shape;198;g3ec87a8fffd_0_118"/>
          <p:cNvSpPr/>
          <p:nvPr/>
        </p:nvSpPr>
        <p:spPr>
          <a:xfrm>
            <a:off x="540070" y="3458638"/>
            <a:ext cx="3566100" cy="658500"/>
          </a:xfrm>
          <a:prstGeom prst="rect">
            <a:avLst/>
          </a:prstGeom>
          <a:solidFill>
            <a:srgbClr val="F0F5FC"/>
          </a:solidFill>
          <a:ln cap="flat" cmpd="sng" w="9525">
            <a:solidFill>
              <a:srgbClr val="C8DC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ec87a8fffd_0_118"/>
          <p:cNvSpPr txBox="1"/>
          <p:nvPr/>
        </p:nvSpPr>
        <p:spPr>
          <a:xfrm>
            <a:off x="677229" y="3504358"/>
            <a:ext cx="3291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900" u="none" cap="none" strike="noStrik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Переключение через .env</a:t>
            </a:r>
            <a:endParaRPr/>
          </a:p>
        </p:txBody>
      </p:sp>
      <p:sp>
        <p:nvSpPr>
          <p:cNvPr id="200" name="Google Shape;200;g3ec87a8fffd_0_118"/>
          <p:cNvSpPr txBox="1"/>
          <p:nvPr/>
        </p:nvSpPr>
        <p:spPr>
          <a:xfrm>
            <a:off x="677229" y="3760390"/>
            <a:ext cx="329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800" u="none" cap="none" strike="noStrik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Меняем сервис через .env</a:t>
            </a:r>
            <a:r>
              <a:rPr lang="ru-RU" sz="800">
                <a:solidFill>
                  <a:srgbClr val="505064"/>
                </a:solidFill>
              </a:rPr>
              <a:t>, </a:t>
            </a:r>
            <a:r>
              <a:rPr b="0" i="0" lang="ru-RU" sz="800" u="none" cap="none" strike="noStrik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переписывать код не нужно</a:t>
            </a:r>
            <a:endParaRPr/>
          </a:p>
        </p:txBody>
      </p:sp>
      <p:sp>
        <p:nvSpPr>
          <p:cNvPr id="201" name="Google Shape;201;g3ec87a8fffd_0_118"/>
          <p:cNvSpPr/>
          <p:nvPr/>
        </p:nvSpPr>
        <p:spPr>
          <a:xfrm>
            <a:off x="540070" y="4208446"/>
            <a:ext cx="3566100" cy="658500"/>
          </a:xfrm>
          <a:prstGeom prst="rect">
            <a:avLst/>
          </a:prstGeom>
          <a:solidFill>
            <a:srgbClr val="F0F5FC"/>
          </a:solidFill>
          <a:ln cap="flat" cmpd="sng" w="9525">
            <a:solidFill>
              <a:srgbClr val="C8DC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ec87a8fffd_0_118"/>
          <p:cNvSpPr txBox="1"/>
          <p:nvPr/>
        </p:nvSpPr>
        <p:spPr>
          <a:xfrm>
            <a:off x="677229" y="4254165"/>
            <a:ext cx="3291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900" u="none" cap="none" strike="noStrik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Фильтрация нерелевантных чанков</a:t>
            </a:r>
            <a:endParaRPr/>
          </a:p>
        </p:txBody>
      </p:sp>
      <p:sp>
        <p:nvSpPr>
          <p:cNvPr id="203" name="Google Shape;203;g3ec87a8fffd_0_118"/>
          <p:cNvSpPr txBox="1"/>
          <p:nvPr/>
        </p:nvSpPr>
        <p:spPr>
          <a:xfrm>
            <a:off x="677229" y="4510198"/>
            <a:ext cx="329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800" u="none" cap="none" strike="noStrik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Если база знаний не дала подходящего контекста </a:t>
            </a:r>
            <a:r>
              <a:rPr lang="ru-RU" sz="800">
                <a:solidFill>
                  <a:srgbClr val="505064"/>
                </a:solidFill>
              </a:rPr>
              <a:t>-</a:t>
            </a:r>
            <a:r>
              <a:rPr b="0" i="0" lang="ru-RU" sz="800" u="none" cap="none" strike="noStrik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 отвечаем без лишнего вызова API</a:t>
            </a:r>
            <a:endParaRPr/>
          </a:p>
        </p:txBody>
      </p:sp>
      <p:sp>
        <p:nvSpPr>
          <p:cNvPr id="204" name="Google Shape;204;g3ec87a8fffd_0_118"/>
          <p:cNvSpPr/>
          <p:nvPr/>
        </p:nvSpPr>
        <p:spPr>
          <a:xfrm>
            <a:off x="540070" y="4958254"/>
            <a:ext cx="3566100" cy="658500"/>
          </a:xfrm>
          <a:prstGeom prst="rect">
            <a:avLst/>
          </a:prstGeom>
          <a:solidFill>
            <a:srgbClr val="F0F5FC"/>
          </a:solidFill>
          <a:ln cap="flat" cmpd="sng" w="9525">
            <a:solidFill>
              <a:srgbClr val="C8DC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ec87a8fffd_0_118"/>
          <p:cNvSpPr txBox="1"/>
          <p:nvPr/>
        </p:nvSpPr>
        <p:spPr>
          <a:xfrm>
            <a:off x="677229" y="5003974"/>
            <a:ext cx="3291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900" u="none" cap="none" strike="noStrik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Singleton-фабрика</a:t>
            </a:r>
            <a:endParaRPr/>
          </a:p>
        </p:txBody>
      </p:sp>
      <p:sp>
        <p:nvSpPr>
          <p:cNvPr id="206" name="Google Shape;206;g3ec87a8fffd_0_118"/>
          <p:cNvSpPr txBox="1"/>
          <p:nvPr/>
        </p:nvSpPr>
        <p:spPr>
          <a:xfrm>
            <a:off x="677229" y="5260006"/>
            <a:ext cx="329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800" u="none" cap="none" strike="noStrik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Провайдер создаётся один раз при старте приложения и переиспользуется</a:t>
            </a:r>
            <a:endParaRPr/>
          </a:p>
        </p:txBody>
      </p:sp>
      <p:sp>
        <p:nvSpPr>
          <p:cNvPr id="207" name="Google Shape;207;g3ec87a8fffd_0_118"/>
          <p:cNvSpPr/>
          <p:nvPr/>
        </p:nvSpPr>
        <p:spPr>
          <a:xfrm>
            <a:off x="8085815" y="2201385"/>
            <a:ext cx="3566100" cy="411600"/>
          </a:xfrm>
          <a:prstGeom prst="rect">
            <a:avLst/>
          </a:prstGeom>
          <a:solidFill>
            <a:srgbClr val="4590B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ec87a8fffd_0_118"/>
          <p:cNvSpPr txBox="1"/>
          <p:nvPr/>
        </p:nvSpPr>
        <p:spPr>
          <a:xfrm>
            <a:off x="8177255" y="2265393"/>
            <a:ext cx="3383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✅  Покрытие тестами</a:t>
            </a:r>
            <a:endParaRPr/>
          </a:p>
        </p:txBody>
      </p:sp>
      <p:sp>
        <p:nvSpPr>
          <p:cNvPr id="209" name="Google Shape;209;g3ec87a8fffd_0_118"/>
          <p:cNvSpPr/>
          <p:nvPr/>
        </p:nvSpPr>
        <p:spPr>
          <a:xfrm>
            <a:off x="8085815" y="2704305"/>
            <a:ext cx="3566100" cy="1005900"/>
          </a:xfrm>
          <a:prstGeom prst="rect">
            <a:avLst/>
          </a:prstGeom>
          <a:solidFill>
            <a:srgbClr val="F0F5FC"/>
          </a:solidFill>
          <a:ln cap="flat" cmpd="sng" w="9525">
            <a:solidFill>
              <a:srgbClr val="C8DC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ec87a8fffd_0_118"/>
          <p:cNvSpPr txBox="1"/>
          <p:nvPr/>
        </p:nvSpPr>
        <p:spPr>
          <a:xfrm>
            <a:off x="8832785" y="2800920"/>
            <a:ext cx="137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200" u="none" cap="none" strike="noStrike">
                <a:solidFill>
                  <a:srgbClr val="4590B8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211" name="Google Shape;211;g3ec87a8fffd_0_118"/>
          <p:cNvSpPr txBox="1"/>
          <p:nvPr/>
        </p:nvSpPr>
        <p:spPr>
          <a:xfrm>
            <a:off x="8965190" y="3031918"/>
            <a:ext cx="2286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rgbClr val="1A3260"/>
                </a:solidFill>
                <a:latin typeface="Arial"/>
                <a:ea typeface="Arial"/>
                <a:cs typeface="Arial"/>
                <a:sym typeface="Arial"/>
              </a:rPr>
              <a:t>тестов</a:t>
            </a:r>
            <a:endParaRPr/>
          </a:p>
        </p:txBody>
      </p:sp>
      <p:sp>
        <p:nvSpPr>
          <p:cNvPr id="212" name="Google Shape;212;g3ec87a8fffd_0_118"/>
          <p:cNvSpPr/>
          <p:nvPr/>
        </p:nvSpPr>
        <p:spPr>
          <a:xfrm>
            <a:off x="8085815" y="3829016"/>
            <a:ext cx="3566100" cy="33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ec87a8fffd_0_118"/>
          <p:cNvSpPr/>
          <p:nvPr/>
        </p:nvSpPr>
        <p:spPr>
          <a:xfrm>
            <a:off x="8085815" y="3829016"/>
            <a:ext cx="73200" cy="338400"/>
          </a:xfrm>
          <a:prstGeom prst="rect">
            <a:avLst/>
          </a:prstGeom>
          <a:solidFill>
            <a:srgbClr val="45CBE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ec87a8fffd_0_118"/>
          <p:cNvSpPr txBox="1"/>
          <p:nvPr/>
        </p:nvSpPr>
        <p:spPr>
          <a:xfrm>
            <a:off x="8268695" y="3874736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850" u="none" cap="none" strike="noStrik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Фильтрация нерелевантных чанков</a:t>
            </a:r>
            <a:endParaRPr/>
          </a:p>
        </p:txBody>
      </p:sp>
      <p:sp>
        <p:nvSpPr>
          <p:cNvPr id="215" name="Google Shape;215;g3ec87a8fffd_0_118"/>
          <p:cNvSpPr/>
          <p:nvPr/>
        </p:nvSpPr>
        <p:spPr>
          <a:xfrm>
            <a:off x="8085815" y="4231353"/>
            <a:ext cx="3566100" cy="33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ec87a8fffd_0_118"/>
          <p:cNvSpPr/>
          <p:nvPr/>
        </p:nvSpPr>
        <p:spPr>
          <a:xfrm>
            <a:off x="8085815" y="4231353"/>
            <a:ext cx="73200" cy="338400"/>
          </a:xfrm>
          <a:prstGeom prst="rect">
            <a:avLst/>
          </a:prstGeom>
          <a:solidFill>
            <a:srgbClr val="4590B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ec87a8fffd_0_118"/>
          <p:cNvSpPr txBox="1"/>
          <p:nvPr/>
        </p:nvSpPr>
        <p:spPr>
          <a:xfrm>
            <a:off x="8268695" y="4277073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850" u="none" cap="none" strike="noStrik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Сборка и форматирование промпта</a:t>
            </a:r>
            <a:endParaRPr/>
          </a:p>
        </p:txBody>
      </p:sp>
      <p:sp>
        <p:nvSpPr>
          <p:cNvPr id="218" name="Google Shape;218;g3ec87a8fffd_0_118"/>
          <p:cNvSpPr/>
          <p:nvPr/>
        </p:nvSpPr>
        <p:spPr>
          <a:xfrm>
            <a:off x="8085815" y="4633689"/>
            <a:ext cx="3566100" cy="33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ec87a8fffd_0_118"/>
          <p:cNvSpPr/>
          <p:nvPr/>
        </p:nvSpPr>
        <p:spPr>
          <a:xfrm>
            <a:off x="8085815" y="4633689"/>
            <a:ext cx="73200" cy="338400"/>
          </a:xfrm>
          <a:prstGeom prst="rect">
            <a:avLst/>
          </a:prstGeom>
          <a:solidFill>
            <a:srgbClr val="1A326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ec87a8fffd_0_118"/>
          <p:cNvSpPr txBox="1"/>
          <p:nvPr/>
        </p:nvSpPr>
        <p:spPr>
          <a:xfrm>
            <a:off x="8268695" y="4679409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850" u="none" cap="none" strike="noStrik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Создание и настройка провайдера</a:t>
            </a:r>
            <a:endParaRPr/>
          </a:p>
        </p:txBody>
      </p:sp>
      <p:sp>
        <p:nvSpPr>
          <p:cNvPr id="221" name="Google Shape;221;g3ec87a8fffd_0_118"/>
          <p:cNvSpPr/>
          <p:nvPr/>
        </p:nvSpPr>
        <p:spPr>
          <a:xfrm>
            <a:off x="8085815" y="5036025"/>
            <a:ext cx="3566100" cy="33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6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ec87a8fffd_0_118"/>
          <p:cNvSpPr/>
          <p:nvPr/>
        </p:nvSpPr>
        <p:spPr>
          <a:xfrm>
            <a:off x="8085815" y="5036025"/>
            <a:ext cx="73200" cy="338400"/>
          </a:xfrm>
          <a:prstGeom prst="rect">
            <a:avLst/>
          </a:prstGeom>
          <a:solidFill>
            <a:srgbClr val="64A06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ec87a8fffd_0_118"/>
          <p:cNvSpPr txBox="1"/>
          <p:nvPr/>
        </p:nvSpPr>
        <p:spPr>
          <a:xfrm>
            <a:off x="8268695" y="5081745"/>
            <a:ext cx="329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850" u="none" cap="none" strike="noStrike">
                <a:solidFill>
                  <a:srgbClr val="505064"/>
                </a:solidFill>
                <a:latin typeface="Arial"/>
                <a:ea typeface="Arial"/>
                <a:cs typeface="Arial"/>
                <a:sym typeface="Arial"/>
              </a:rPr>
              <a:t>Безопасное хранение API-ключей</a:t>
            </a:r>
            <a:endParaRPr/>
          </a:p>
        </p:txBody>
      </p:sp>
      <p:sp>
        <p:nvSpPr>
          <p:cNvPr id="224" name="Google Shape;224;g3ec87a8fffd_0_118"/>
          <p:cNvSpPr/>
          <p:nvPr/>
        </p:nvSpPr>
        <p:spPr>
          <a:xfrm>
            <a:off x="4312960" y="2205910"/>
            <a:ext cx="3566100" cy="411600"/>
          </a:xfrm>
          <a:prstGeom prst="rect">
            <a:avLst/>
          </a:prstGeom>
          <a:solidFill>
            <a:srgbClr val="1A8C5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ec87a8fffd_0_118"/>
          <p:cNvSpPr txBox="1"/>
          <p:nvPr/>
        </p:nvSpPr>
        <p:spPr>
          <a:xfrm>
            <a:off x="4404400" y="2269918"/>
            <a:ext cx="3383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🏗  Структура модуля</a:t>
            </a:r>
            <a:endParaRPr/>
          </a:p>
        </p:txBody>
      </p:sp>
      <p:sp>
        <p:nvSpPr>
          <p:cNvPr id="226" name="Google Shape;226;g3ec87a8fffd_0_118"/>
          <p:cNvSpPr/>
          <p:nvPr/>
        </p:nvSpPr>
        <p:spPr>
          <a:xfrm>
            <a:off x="4312960" y="2708830"/>
            <a:ext cx="3566100" cy="658500"/>
          </a:xfrm>
          <a:prstGeom prst="rect">
            <a:avLst/>
          </a:prstGeom>
          <a:solidFill>
            <a:srgbClr val="F2FCF2"/>
          </a:solidFill>
          <a:ln cap="flat" cmpd="sng" w="9525">
            <a:solidFill>
              <a:srgbClr val="A0D2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ec87a8fffd_0_118"/>
          <p:cNvSpPr/>
          <p:nvPr/>
        </p:nvSpPr>
        <p:spPr>
          <a:xfrm>
            <a:off x="4312960" y="2708830"/>
            <a:ext cx="1005900" cy="658500"/>
          </a:xfrm>
          <a:prstGeom prst="rect">
            <a:avLst/>
          </a:prstGeom>
          <a:solidFill>
            <a:srgbClr val="DCF5E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ec87a8fffd_0_118"/>
          <p:cNvSpPr txBox="1"/>
          <p:nvPr/>
        </p:nvSpPr>
        <p:spPr>
          <a:xfrm>
            <a:off x="4358680" y="2891710"/>
            <a:ext cx="868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850" u="none" cap="none" strike="noStrike">
                <a:solidFill>
                  <a:srgbClr val="1E6432"/>
                </a:solidFill>
                <a:latin typeface="Arial"/>
                <a:ea typeface="Arial"/>
                <a:cs typeface="Arial"/>
                <a:sym typeface="Arial"/>
              </a:rPr>
              <a:t>base.py</a:t>
            </a:r>
            <a:endParaRPr/>
          </a:p>
        </p:txBody>
      </p:sp>
      <p:sp>
        <p:nvSpPr>
          <p:cNvPr id="229" name="Google Shape;229;g3ec87a8fffd_0_118"/>
          <p:cNvSpPr txBox="1"/>
          <p:nvPr/>
        </p:nvSpPr>
        <p:spPr>
          <a:xfrm>
            <a:off x="5391952" y="2873422"/>
            <a:ext cx="237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850" u="none" cap="none" strike="noStrike">
                <a:solidFill>
                  <a:srgbClr val="285028"/>
                </a:solidFill>
                <a:latin typeface="Arial"/>
                <a:ea typeface="Arial"/>
                <a:cs typeface="Arial"/>
                <a:sym typeface="Arial"/>
              </a:rPr>
              <a:t>Абстрактный класс </a:t>
            </a:r>
            <a:r>
              <a:rPr lang="ru-RU" sz="850">
                <a:solidFill>
                  <a:srgbClr val="285028"/>
                </a:solidFill>
              </a:rPr>
              <a:t>- </a:t>
            </a:r>
            <a:r>
              <a:rPr b="0" i="0" lang="ru-RU" sz="850" u="none" cap="none" strike="noStrike">
                <a:solidFill>
                  <a:srgbClr val="285028"/>
                </a:solidFill>
                <a:latin typeface="Arial"/>
                <a:ea typeface="Arial"/>
                <a:cs typeface="Arial"/>
                <a:sym typeface="Arial"/>
              </a:rPr>
              <a:t>контракт для всех провайдеров</a:t>
            </a:r>
            <a:endParaRPr/>
          </a:p>
        </p:txBody>
      </p:sp>
      <p:sp>
        <p:nvSpPr>
          <p:cNvPr id="230" name="Google Shape;230;g3ec87a8fffd_0_118"/>
          <p:cNvSpPr/>
          <p:nvPr/>
        </p:nvSpPr>
        <p:spPr>
          <a:xfrm>
            <a:off x="4312960" y="3458638"/>
            <a:ext cx="3566100" cy="658500"/>
          </a:xfrm>
          <a:prstGeom prst="rect">
            <a:avLst/>
          </a:prstGeom>
          <a:solidFill>
            <a:srgbClr val="F2FCF2"/>
          </a:solidFill>
          <a:ln cap="flat" cmpd="sng" w="9525">
            <a:solidFill>
              <a:srgbClr val="A0D2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ec87a8fffd_0_118"/>
          <p:cNvSpPr/>
          <p:nvPr/>
        </p:nvSpPr>
        <p:spPr>
          <a:xfrm>
            <a:off x="4312960" y="3458638"/>
            <a:ext cx="1005900" cy="658500"/>
          </a:xfrm>
          <a:prstGeom prst="rect">
            <a:avLst/>
          </a:prstGeom>
          <a:solidFill>
            <a:srgbClr val="DCF5E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ec87a8fffd_0_118"/>
          <p:cNvSpPr txBox="1"/>
          <p:nvPr/>
        </p:nvSpPr>
        <p:spPr>
          <a:xfrm>
            <a:off x="4358680" y="3641518"/>
            <a:ext cx="868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850" u="none" cap="none" strike="noStrike">
                <a:solidFill>
                  <a:srgbClr val="1E6432"/>
                </a:solidFill>
                <a:latin typeface="Arial"/>
                <a:ea typeface="Arial"/>
                <a:cs typeface="Arial"/>
                <a:sym typeface="Arial"/>
              </a:rPr>
              <a:t>provider.py</a:t>
            </a:r>
            <a:endParaRPr/>
          </a:p>
        </p:txBody>
      </p:sp>
      <p:sp>
        <p:nvSpPr>
          <p:cNvPr id="233" name="Google Shape;233;g3ec87a8fffd_0_118"/>
          <p:cNvSpPr txBox="1"/>
          <p:nvPr/>
        </p:nvSpPr>
        <p:spPr>
          <a:xfrm>
            <a:off x="5391952" y="3623230"/>
            <a:ext cx="237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850" u="none" cap="none" strike="noStrike">
                <a:solidFill>
                  <a:srgbClr val="285028"/>
                </a:solidFill>
                <a:latin typeface="Arial"/>
                <a:ea typeface="Arial"/>
                <a:cs typeface="Arial"/>
                <a:sym typeface="Arial"/>
              </a:rPr>
              <a:t>Реализация для любого OpenAI-compatible API</a:t>
            </a:r>
            <a:endParaRPr/>
          </a:p>
        </p:txBody>
      </p:sp>
      <p:sp>
        <p:nvSpPr>
          <p:cNvPr id="234" name="Google Shape;234;g3ec87a8fffd_0_118"/>
          <p:cNvSpPr/>
          <p:nvPr/>
        </p:nvSpPr>
        <p:spPr>
          <a:xfrm>
            <a:off x="4312960" y="4208446"/>
            <a:ext cx="3566100" cy="658500"/>
          </a:xfrm>
          <a:prstGeom prst="rect">
            <a:avLst/>
          </a:prstGeom>
          <a:solidFill>
            <a:srgbClr val="F2FCF2"/>
          </a:solidFill>
          <a:ln cap="flat" cmpd="sng" w="9525">
            <a:solidFill>
              <a:srgbClr val="A0D2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ec87a8fffd_0_118"/>
          <p:cNvSpPr/>
          <p:nvPr/>
        </p:nvSpPr>
        <p:spPr>
          <a:xfrm>
            <a:off x="4312960" y="4208446"/>
            <a:ext cx="1005900" cy="658500"/>
          </a:xfrm>
          <a:prstGeom prst="rect">
            <a:avLst/>
          </a:prstGeom>
          <a:solidFill>
            <a:srgbClr val="DCF5E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ec87a8fffd_0_118"/>
          <p:cNvSpPr txBox="1"/>
          <p:nvPr/>
        </p:nvSpPr>
        <p:spPr>
          <a:xfrm>
            <a:off x="4358680" y="4391326"/>
            <a:ext cx="868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850" u="none" cap="none" strike="noStrike">
                <a:solidFill>
                  <a:srgbClr val="1E6432"/>
                </a:solidFill>
                <a:latin typeface="Arial"/>
                <a:ea typeface="Arial"/>
                <a:cs typeface="Arial"/>
                <a:sym typeface="Arial"/>
              </a:rPr>
              <a:t>prompt.py</a:t>
            </a:r>
            <a:endParaRPr/>
          </a:p>
        </p:txBody>
      </p:sp>
      <p:sp>
        <p:nvSpPr>
          <p:cNvPr id="237" name="Google Shape;237;g3ec87a8fffd_0_118"/>
          <p:cNvSpPr txBox="1"/>
          <p:nvPr/>
        </p:nvSpPr>
        <p:spPr>
          <a:xfrm>
            <a:off x="5391952" y="4373037"/>
            <a:ext cx="2377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850" u="none" cap="none" strike="noStrike">
                <a:solidFill>
                  <a:srgbClr val="285028"/>
                </a:solidFill>
                <a:latin typeface="Arial"/>
                <a:ea typeface="Arial"/>
                <a:cs typeface="Arial"/>
                <a:sym typeface="Arial"/>
              </a:rPr>
              <a:t>Сборка промпта с контекстом и историей</a:t>
            </a:r>
            <a:endParaRPr/>
          </a:p>
        </p:txBody>
      </p:sp>
      <p:sp>
        <p:nvSpPr>
          <p:cNvPr id="238" name="Google Shape;238;g3ec87a8fffd_0_118"/>
          <p:cNvSpPr/>
          <p:nvPr/>
        </p:nvSpPr>
        <p:spPr>
          <a:xfrm>
            <a:off x="4312960" y="4958254"/>
            <a:ext cx="3566100" cy="658500"/>
          </a:xfrm>
          <a:prstGeom prst="rect">
            <a:avLst/>
          </a:prstGeom>
          <a:solidFill>
            <a:srgbClr val="F2FCF2"/>
          </a:solidFill>
          <a:ln cap="flat" cmpd="sng" w="9525">
            <a:solidFill>
              <a:srgbClr val="A0D2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ec87a8fffd_0_118"/>
          <p:cNvSpPr/>
          <p:nvPr/>
        </p:nvSpPr>
        <p:spPr>
          <a:xfrm>
            <a:off x="4312960" y="4958254"/>
            <a:ext cx="1005900" cy="658500"/>
          </a:xfrm>
          <a:prstGeom prst="rect">
            <a:avLst/>
          </a:prstGeom>
          <a:solidFill>
            <a:srgbClr val="DCF5E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ec87a8fffd_0_118"/>
          <p:cNvSpPr txBox="1"/>
          <p:nvPr/>
        </p:nvSpPr>
        <p:spPr>
          <a:xfrm>
            <a:off x="4358680" y="5141134"/>
            <a:ext cx="868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850" u="none" cap="none" strike="noStrike">
                <a:solidFill>
                  <a:srgbClr val="1E6432"/>
                </a:solidFill>
                <a:latin typeface="Arial"/>
                <a:ea typeface="Arial"/>
                <a:cs typeface="Arial"/>
                <a:sym typeface="Arial"/>
              </a:rPr>
              <a:t>factory.py</a:t>
            </a:r>
            <a:endParaRPr/>
          </a:p>
        </p:txBody>
      </p:sp>
      <p:sp>
        <p:nvSpPr>
          <p:cNvPr id="241" name="Google Shape;241;g3ec87a8fffd_0_118"/>
          <p:cNvSpPr txBox="1"/>
          <p:nvPr/>
        </p:nvSpPr>
        <p:spPr>
          <a:xfrm>
            <a:off x="5391952" y="5122846"/>
            <a:ext cx="2377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850" u="none" cap="none" strike="noStrike">
                <a:solidFill>
                  <a:srgbClr val="285028"/>
                </a:solidFill>
                <a:latin typeface="Arial"/>
                <a:ea typeface="Arial"/>
                <a:cs typeface="Arial"/>
                <a:sym typeface="Arial"/>
              </a:rPr>
              <a:t>Создаёт провайдера один раз при запуске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5becf0698_2_3"/>
          <p:cNvSpPr txBox="1"/>
          <p:nvPr>
            <p:ph idx="1" type="body"/>
          </p:nvPr>
        </p:nvSpPr>
        <p:spPr>
          <a:xfrm>
            <a:off x="581200" y="3418325"/>
            <a:ext cx="5876700" cy="24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253"/>
              <a:buNone/>
            </a:pPr>
            <a:r>
              <a:t/>
            </a:r>
            <a:endParaRPr b="1" sz="1350">
              <a:solidFill>
                <a:srgbClr val="1A3260"/>
              </a:solidFill>
            </a:endParaRPr>
          </a:p>
          <a:p>
            <a:pPr indent="0" lvl="0" marL="123444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253"/>
              <a:buNone/>
            </a:pPr>
            <a:r>
              <a:t/>
            </a:r>
            <a:endParaRPr b="1" sz="1550">
              <a:solidFill>
                <a:srgbClr val="1A3260"/>
              </a:solidFill>
            </a:endParaRPr>
          </a:p>
          <a:p>
            <a:pPr indent="-314581" lvl="0" marL="306000" rtl="0" algn="l">
              <a:lnSpc>
                <a:spcPct val="80000"/>
              </a:lnSpc>
              <a:spcBef>
                <a:spcPts val="879"/>
              </a:spcBef>
              <a:spcAft>
                <a:spcPts val="0"/>
              </a:spcAft>
              <a:buSzPts val="1635"/>
              <a:buFont typeface="Gill Sans"/>
              <a:buChar char="◼"/>
            </a:pPr>
            <a:r>
              <a:rPr b="1" lang="ru-RU" sz="1550">
                <a:solidFill>
                  <a:srgbClr val="1A3260"/>
                </a:solidFill>
              </a:rPr>
              <a:t>Что делает слой API:</a:t>
            </a:r>
            <a:endParaRPr sz="1550"/>
          </a:p>
          <a:p>
            <a:pPr indent="-336045" lvl="1" marL="630000" rtl="0" algn="l">
              <a:lnSpc>
                <a:spcPct val="80000"/>
              </a:lnSpc>
              <a:spcBef>
                <a:spcPts val="848"/>
              </a:spcBef>
              <a:spcAft>
                <a:spcPts val="0"/>
              </a:spcAft>
              <a:buSzPts val="1614"/>
              <a:buFont typeface="Gill Sans"/>
              <a:buChar char="•"/>
            </a:pPr>
            <a:r>
              <a:rPr lang="ru-RU" sz="1620">
                <a:solidFill>
                  <a:srgbClr val="3D3D3D"/>
                </a:solidFill>
              </a:rPr>
              <a:t>валидирует ChatRequest и нормализует session_id</a:t>
            </a:r>
            <a:endParaRPr sz="1620">
              <a:solidFill>
                <a:srgbClr val="3D3D3D"/>
              </a:solidFill>
            </a:endParaRPr>
          </a:p>
          <a:p>
            <a:pPr indent="-336045" lvl="1" marL="630000" rtl="0" algn="l">
              <a:lnSpc>
                <a:spcPct val="80000"/>
              </a:lnSpc>
              <a:spcBef>
                <a:spcPts val="848"/>
              </a:spcBef>
              <a:spcAft>
                <a:spcPts val="0"/>
              </a:spcAft>
              <a:buSzPts val="1614"/>
              <a:buFont typeface="Gill Sans"/>
              <a:buChar char="•"/>
            </a:pPr>
            <a:r>
              <a:rPr lang="ru-RU" sz="1620">
                <a:solidFill>
                  <a:srgbClr val="3D3D3D"/>
                </a:solidFill>
              </a:rPr>
              <a:t>загружает историю сессии для LLM</a:t>
            </a:r>
            <a:endParaRPr sz="1620">
              <a:solidFill>
                <a:srgbClr val="3D3D3D"/>
              </a:solidFill>
            </a:endParaRPr>
          </a:p>
          <a:p>
            <a:pPr indent="-336045" lvl="1" marL="630000" rtl="0" algn="l">
              <a:lnSpc>
                <a:spcPct val="80000"/>
              </a:lnSpc>
              <a:spcBef>
                <a:spcPts val="848"/>
              </a:spcBef>
              <a:spcAft>
                <a:spcPts val="0"/>
              </a:spcAft>
              <a:buSzPts val="1614"/>
              <a:buFont typeface="Gill Sans"/>
              <a:buChar char="•"/>
            </a:pPr>
            <a:r>
              <a:rPr lang="ru-RU" sz="1620">
                <a:solidFill>
                  <a:srgbClr val="3D3D3D"/>
                </a:solidFill>
              </a:rPr>
              <a:t>вызывает search_context() и активного LLM-провайдера</a:t>
            </a:r>
            <a:endParaRPr sz="1620">
              <a:solidFill>
                <a:srgbClr val="3D3D3D"/>
              </a:solidFill>
            </a:endParaRPr>
          </a:p>
          <a:p>
            <a:pPr indent="-336045" lvl="1" marL="630000" rtl="0" algn="l">
              <a:lnSpc>
                <a:spcPct val="80000"/>
              </a:lnSpc>
              <a:spcBef>
                <a:spcPts val="848"/>
              </a:spcBef>
              <a:spcAft>
                <a:spcPts val="0"/>
              </a:spcAft>
              <a:buSzPts val="1614"/>
              <a:buFont typeface="Gill Sans"/>
              <a:buChar char="•"/>
            </a:pPr>
            <a:r>
              <a:rPr lang="ru-RU" sz="1620">
                <a:solidFill>
                  <a:srgbClr val="3D3D3D"/>
                </a:solidFill>
              </a:rPr>
              <a:t>возвращает ChatResponse: answer, sources, answered</a:t>
            </a:r>
            <a:endParaRPr sz="1620">
              <a:solidFill>
                <a:srgbClr val="3D3D3D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253"/>
              <a:buNone/>
            </a:pPr>
            <a:r>
              <a:t/>
            </a:r>
            <a:endParaRPr b="1" sz="1350">
              <a:solidFill>
                <a:srgbClr val="1A3260"/>
              </a:solidFill>
            </a:endParaRPr>
          </a:p>
        </p:txBody>
      </p:sp>
      <p:sp>
        <p:nvSpPr>
          <p:cNvPr id="247" name="Google Shape;247;g3e5becf0698_2_3"/>
          <p:cNvSpPr txBox="1"/>
          <p:nvPr/>
        </p:nvSpPr>
        <p:spPr>
          <a:xfrm>
            <a:off x="521208" y="832104"/>
            <a:ext cx="11384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БЛОК «API &amp; BACKEND ORCHESTRATION» - РОЛЬ API-СЛОЯ</a:t>
            </a:r>
            <a:endParaRPr/>
          </a:p>
        </p:txBody>
      </p:sp>
      <p:sp>
        <p:nvSpPr>
          <p:cNvPr id="248" name="Google Shape;248;g3e5becf0698_2_3"/>
          <p:cNvSpPr txBox="1"/>
          <p:nvPr/>
        </p:nvSpPr>
        <p:spPr>
          <a:xfrm>
            <a:off x="402336" y="1938528"/>
            <a:ext cx="1122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750" u="none" cap="none" strike="noStrik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Зона ответственности: </a:t>
            </a:r>
            <a:r>
              <a:rPr b="0" i="0" lang="ru-RU" sz="1600" u="none" cap="none" strike="noStrik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единый REST API, который принимает запрос, связывает Retrieval/RAG и LLM-провайдера, затем возвращает нормализованный ответ.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50" u="none" cap="none" strike="noStrike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9" name="Google Shape;249;g3e5becf0698_2_3"/>
          <p:cNvSpPr/>
          <p:nvPr/>
        </p:nvSpPr>
        <p:spPr>
          <a:xfrm>
            <a:off x="429768" y="2852928"/>
            <a:ext cx="2002500" cy="969300"/>
          </a:xfrm>
          <a:prstGeom prst="roundRect">
            <a:avLst>
              <a:gd fmla="val 16667" name="adj"/>
            </a:avLst>
          </a:prstGeom>
          <a:solidFill>
            <a:srgbClr val="F6F9FC"/>
          </a:solidFill>
          <a:ln cap="flat" cmpd="sng" w="19050">
            <a:solidFill>
              <a:srgbClr val="4590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e5becf0698_2_3"/>
          <p:cNvSpPr txBox="1"/>
          <p:nvPr/>
        </p:nvSpPr>
        <p:spPr>
          <a:xfrm>
            <a:off x="548640" y="2962656"/>
            <a:ext cx="1773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rgbClr val="1A3260"/>
                </a:solidFill>
                <a:latin typeface="Gill Sans"/>
                <a:ea typeface="Gill Sans"/>
                <a:cs typeface="Gill Sans"/>
                <a:sym typeface="Gill Sans"/>
              </a:rPr>
              <a:t>POST /chat</a:t>
            </a:r>
            <a:endParaRPr/>
          </a:p>
        </p:txBody>
      </p:sp>
      <p:sp>
        <p:nvSpPr>
          <p:cNvPr id="251" name="Google Shape;251;g3e5becf0698_2_3"/>
          <p:cNvSpPr txBox="1"/>
          <p:nvPr/>
        </p:nvSpPr>
        <p:spPr>
          <a:xfrm>
            <a:off x="548640" y="3273552"/>
            <a:ext cx="1773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9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message, session_id, параметры</a:t>
            </a:r>
            <a:endParaRPr b="0" i="0" sz="950" u="none" cap="none" strike="noStrike">
              <a:solidFill>
                <a:srgbClr val="3D3D3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g3e5becf0698_2_3"/>
          <p:cNvCxnSpPr/>
          <p:nvPr/>
        </p:nvCxnSpPr>
        <p:spPr>
          <a:xfrm>
            <a:off x="2459736" y="3337560"/>
            <a:ext cx="173700" cy="0"/>
          </a:xfrm>
          <a:prstGeom prst="straightConnector1">
            <a:avLst/>
          </a:prstGeom>
          <a:noFill/>
          <a:ln cap="flat" cmpd="sng" w="25400">
            <a:solidFill>
              <a:srgbClr val="4590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53" name="Google Shape;253;g3e5becf0698_2_3"/>
          <p:cNvSpPr/>
          <p:nvPr/>
        </p:nvSpPr>
        <p:spPr>
          <a:xfrm>
            <a:off x="2660904" y="2852928"/>
            <a:ext cx="2002500" cy="969300"/>
          </a:xfrm>
          <a:prstGeom prst="roundRect">
            <a:avLst>
              <a:gd fmla="val 16667" name="adj"/>
            </a:avLst>
          </a:prstGeom>
          <a:solidFill>
            <a:srgbClr val="F6F9FC"/>
          </a:solidFill>
          <a:ln cap="flat" cmpd="sng" w="19050">
            <a:solidFill>
              <a:srgbClr val="4590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e5becf0698_2_3"/>
          <p:cNvSpPr txBox="1"/>
          <p:nvPr/>
        </p:nvSpPr>
        <p:spPr>
          <a:xfrm>
            <a:off x="2779776" y="2962656"/>
            <a:ext cx="1773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rgbClr val="1A3260"/>
                </a:solidFill>
                <a:latin typeface="Gill Sans"/>
                <a:ea typeface="Gill Sans"/>
                <a:cs typeface="Gill Sans"/>
                <a:sym typeface="Gill Sans"/>
              </a:rPr>
              <a:t>ChatService</a:t>
            </a:r>
            <a:endParaRPr/>
          </a:p>
        </p:txBody>
      </p:sp>
      <p:sp>
        <p:nvSpPr>
          <p:cNvPr id="255" name="Google Shape;255;g3e5becf0698_2_3"/>
          <p:cNvSpPr txBox="1"/>
          <p:nvPr/>
        </p:nvSpPr>
        <p:spPr>
          <a:xfrm>
            <a:off x="2779776" y="3273552"/>
            <a:ext cx="1773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9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сессия, история, сбор пайплайна</a:t>
            </a:r>
            <a:endParaRPr/>
          </a:p>
        </p:txBody>
      </p:sp>
      <p:cxnSp>
        <p:nvCxnSpPr>
          <p:cNvPr id="256" name="Google Shape;256;g3e5becf0698_2_3"/>
          <p:cNvCxnSpPr/>
          <p:nvPr/>
        </p:nvCxnSpPr>
        <p:spPr>
          <a:xfrm>
            <a:off x="4690872" y="3337560"/>
            <a:ext cx="173700" cy="0"/>
          </a:xfrm>
          <a:prstGeom prst="straightConnector1">
            <a:avLst/>
          </a:prstGeom>
          <a:noFill/>
          <a:ln cap="flat" cmpd="sng" w="25400">
            <a:solidFill>
              <a:srgbClr val="4590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57" name="Google Shape;257;g3e5becf0698_2_3"/>
          <p:cNvSpPr/>
          <p:nvPr/>
        </p:nvSpPr>
        <p:spPr>
          <a:xfrm>
            <a:off x="4892040" y="2852928"/>
            <a:ext cx="2002500" cy="969300"/>
          </a:xfrm>
          <a:prstGeom prst="roundRect">
            <a:avLst>
              <a:gd fmla="val 16667" name="adj"/>
            </a:avLst>
          </a:prstGeom>
          <a:solidFill>
            <a:srgbClr val="F6F9FC"/>
          </a:solidFill>
          <a:ln cap="flat" cmpd="sng" w="19050">
            <a:solidFill>
              <a:srgbClr val="4590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e5becf0698_2_3"/>
          <p:cNvSpPr txBox="1"/>
          <p:nvPr/>
        </p:nvSpPr>
        <p:spPr>
          <a:xfrm>
            <a:off x="5010912" y="2962656"/>
            <a:ext cx="1773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rgbClr val="1A3260"/>
                </a:solidFill>
                <a:latin typeface="Gill Sans"/>
                <a:ea typeface="Gill Sans"/>
                <a:cs typeface="Gill Sans"/>
                <a:sym typeface="Gill Sans"/>
              </a:rPr>
              <a:t>Retrieval/RAG</a:t>
            </a:r>
            <a:endParaRPr/>
          </a:p>
        </p:txBody>
      </p:sp>
      <p:sp>
        <p:nvSpPr>
          <p:cNvPr id="259" name="Google Shape;259;g3e5becf0698_2_3"/>
          <p:cNvSpPr txBox="1"/>
          <p:nvPr/>
        </p:nvSpPr>
        <p:spPr>
          <a:xfrm>
            <a:off x="5010912" y="3273552"/>
            <a:ext cx="1773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9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релевантные чанки базы знаний</a:t>
            </a:r>
            <a:endParaRPr b="0" i="0" sz="950" u="none" cap="none" strike="noStrike">
              <a:solidFill>
                <a:srgbClr val="3D3D3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g3e5becf0698_2_3"/>
          <p:cNvCxnSpPr/>
          <p:nvPr/>
        </p:nvCxnSpPr>
        <p:spPr>
          <a:xfrm>
            <a:off x="6922007" y="3337560"/>
            <a:ext cx="173700" cy="0"/>
          </a:xfrm>
          <a:prstGeom prst="straightConnector1">
            <a:avLst/>
          </a:prstGeom>
          <a:noFill/>
          <a:ln cap="flat" cmpd="sng" w="25400">
            <a:solidFill>
              <a:srgbClr val="4590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61" name="Google Shape;261;g3e5becf0698_2_3"/>
          <p:cNvSpPr/>
          <p:nvPr/>
        </p:nvSpPr>
        <p:spPr>
          <a:xfrm>
            <a:off x="7123175" y="2852928"/>
            <a:ext cx="2002500" cy="969300"/>
          </a:xfrm>
          <a:prstGeom prst="roundRect">
            <a:avLst>
              <a:gd fmla="val 16667" name="adj"/>
            </a:avLst>
          </a:prstGeom>
          <a:solidFill>
            <a:srgbClr val="F6F9FC"/>
          </a:solidFill>
          <a:ln cap="flat" cmpd="sng" w="19050">
            <a:solidFill>
              <a:srgbClr val="4590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e5becf0698_2_3"/>
          <p:cNvSpPr txBox="1"/>
          <p:nvPr/>
        </p:nvSpPr>
        <p:spPr>
          <a:xfrm>
            <a:off x="7242047" y="2962656"/>
            <a:ext cx="1773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rgbClr val="1A3260"/>
                </a:solidFill>
                <a:latin typeface="Gill Sans"/>
                <a:ea typeface="Gill Sans"/>
                <a:cs typeface="Gill Sans"/>
                <a:sym typeface="Gill Sans"/>
              </a:rPr>
              <a:t>LLM Provider</a:t>
            </a:r>
            <a:endParaRPr/>
          </a:p>
        </p:txBody>
      </p:sp>
      <p:sp>
        <p:nvSpPr>
          <p:cNvPr id="263" name="Google Shape;263;g3e5becf0698_2_3"/>
          <p:cNvSpPr txBox="1"/>
          <p:nvPr/>
        </p:nvSpPr>
        <p:spPr>
          <a:xfrm>
            <a:off x="7242047" y="3273552"/>
            <a:ext cx="1773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9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OpenAI-compatible абстракция</a:t>
            </a:r>
            <a:endParaRPr/>
          </a:p>
        </p:txBody>
      </p:sp>
      <p:cxnSp>
        <p:nvCxnSpPr>
          <p:cNvPr id="264" name="Google Shape;264;g3e5becf0698_2_3"/>
          <p:cNvCxnSpPr/>
          <p:nvPr/>
        </p:nvCxnSpPr>
        <p:spPr>
          <a:xfrm>
            <a:off x="9153143" y="3337560"/>
            <a:ext cx="173700" cy="0"/>
          </a:xfrm>
          <a:prstGeom prst="straightConnector1">
            <a:avLst/>
          </a:prstGeom>
          <a:noFill/>
          <a:ln cap="flat" cmpd="sng" w="25400">
            <a:solidFill>
              <a:srgbClr val="4590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65" name="Google Shape;265;g3e5becf0698_2_3"/>
          <p:cNvSpPr/>
          <p:nvPr/>
        </p:nvSpPr>
        <p:spPr>
          <a:xfrm>
            <a:off x="9354311" y="2852928"/>
            <a:ext cx="2002500" cy="969300"/>
          </a:xfrm>
          <a:prstGeom prst="roundRect">
            <a:avLst>
              <a:gd fmla="val 16667" name="adj"/>
            </a:avLst>
          </a:prstGeom>
          <a:solidFill>
            <a:srgbClr val="F6F9FC"/>
          </a:solidFill>
          <a:ln cap="flat" cmpd="sng" w="19050">
            <a:solidFill>
              <a:srgbClr val="4590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e5becf0698_2_3"/>
          <p:cNvSpPr txBox="1"/>
          <p:nvPr/>
        </p:nvSpPr>
        <p:spPr>
          <a:xfrm>
            <a:off x="9473184" y="2962656"/>
            <a:ext cx="1773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rgbClr val="1A3260"/>
                </a:solidFill>
                <a:latin typeface="Gill Sans"/>
                <a:ea typeface="Gill Sans"/>
                <a:cs typeface="Gill Sans"/>
                <a:sym typeface="Gill Sans"/>
              </a:rPr>
              <a:t>ChatResponse</a:t>
            </a:r>
            <a:endParaRPr/>
          </a:p>
        </p:txBody>
      </p:sp>
      <p:sp>
        <p:nvSpPr>
          <p:cNvPr id="267" name="Google Shape;267;g3e5becf0698_2_3"/>
          <p:cNvSpPr txBox="1"/>
          <p:nvPr/>
        </p:nvSpPr>
        <p:spPr>
          <a:xfrm>
            <a:off x="9473184" y="3273552"/>
            <a:ext cx="1773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9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answer, sources, answered</a:t>
            </a:r>
            <a:endParaRPr/>
          </a:p>
        </p:txBody>
      </p:sp>
      <p:sp>
        <p:nvSpPr>
          <p:cNvPr id="268" name="Google Shape;268;g3e5becf0698_2_3"/>
          <p:cNvSpPr txBox="1"/>
          <p:nvPr/>
        </p:nvSpPr>
        <p:spPr>
          <a:xfrm>
            <a:off x="5862700" y="2371625"/>
            <a:ext cx="6238500" cy="36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0000" lnSpcReduction="10000"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29883"/>
              <a:buFont typeface="Noto Sans Symbols"/>
              <a:buNone/>
            </a:pPr>
            <a:r>
              <a:t/>
            </a:r>
            <a:endParaRPr b="1" i="0" sz="1500" u="none" cap="none" strike="noStrik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29883"/>
              <a:buFont typeface="Noto Sans Symbols"/>
              <a:buNone/>
            </a:pPr>
            <a:r>
              <a:t/>
            </a:r>
            <a:endParaRPr b="1" i="0" sz="1500" u="none" cap="none" strike="noStrik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29883"/>
              <a:buFont typeface="Noto Sans Symbols"/>
              <a:buNone/>
            </a:pPr>
            <a:r>
              <a:t/>
            </a:r>
            <a:endParaRPr b="1" i="0" sz="1500" u="none" cap="none" strike="noStrik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29883"/>
              <a:buFont typeface="Noto Sans Symbols"/>
              <a:buNone/>
            </a:pPr>
            <a:r>
              <a:t/>
            </a:r>
            <a:endParaRPr b="1" i="0" sz="1500" u="none" cap="none" strike="noStrik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29883"/>
              <a:buFont typeface="Noto Sans Symbols"/>
              <a:buNone/>
            </a:pPr>
            <a:r>
              <a:t/>
            </a:r>
            <a:endParaRPr b="1" i="0" sz="1500" u="none" cap="none" strike="noStrik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29883"/>
              <a:buFont typeface="Noto Sans Symbols"/>
              <a:buNone/>
            </a:pPr>
            <a:r>
              <a:t/>
            </a:r>
            <a:endParaRPr b="1" i="0" sz="1500" u="none" cap="none" strike="noStrik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29883"/>
              <a:buFont typeface="Noto Sans Symbols"/>
              <a:buNone/>
            </a:pPr>
            <a:r>
              <a:t/>
            </a:r>
            <a:endParaRPr b="1" i="0" sz="1500" u="none" cap="none" strike="noStrik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29883"/>
              <a:buFont typeface="Noto Sans Symbols"/>
              <a:buNone/>
            </a:pPr>
            <a:r>
              <a:t/>
            </a:r>
            <a:endParaRPr b="1" i="0" sz="1500" u="none" cap="none" strike="noStrik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12344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29883"/>
              <a:buFont typeface="Noto Sans Symbols"/>
              <a:buNone/>
            </a:pPr>
            <a:r>
              <a:t/>
            </a:r>
            <a:endParaRPr b="1" i="0" sz="1500" u="none" cap="none" strike="noStrik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08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Gill Sans"/>
              <a:buChar char="◼"/>
            </a:pPr>
            <a:r>
              <a:rPr b="1" i="0" lang="ru-RU" sz="2300" u="none" cap="none" strike="noStrike">
                <a:solidFill>
                  <a:srgbClr val="1A3260"/>
                </a:solidFill>
                <a:latin typeface="Gill Sans"/>
                <a:ea typeface="Gill Sans"/>
                <a:cs typeface="Gill Sans"/>
                <a:sym typeface="Gill Sans"/>
              </a:rPr>
              <a:t>Границы ответственности:</a:t>
            </a:r>
            <a:endParaRPr sz="2300">
              <a:latin typeface="Gill Sans"/>
              <a:ea typeface="Gill Sans"/>
              <a:cs typeface="Gill Sans"/>
              <a:sym typeface="Gill Sans"/>
            </a:endParaRPr>
          </a:p>
          <a:p>
            <a:pPr indent="-335794" lvl="1" marL="630000" marR="0" rtl="0" algn="l">
              <a:lnSpc>
                <a:spcPct val="100000"/>
              </a:lnSpc>
              <a:spcBef>
                <a:spcPts val="848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Gill Sans"/>
              <a:buChar char="•"/>
            </a:pPr>
            <a:r>
              <a:rPr i="0" lang="ru-RU" sz="2300" u="none" cap="none" strike="noStrik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индексация базы знаний остается в слое Data Processing</a:t>
            </a:r>
            <a:endParaRPr sz="2300">
              <a:latin typeface="Gill Sans"/>
              <a:ea typeface="Gill Sans"/>
              <a:cs typeface="Gill Sans"/>
              <a:sym typeface="Gill Sans"/>
            </a:endParaRPr>
          </a:p>
          <a:p>
            <a:pPr indent="-335794" lvl="1" marL="630000" marR="0" rtl="0" algn="l">
              <a:lnSpc>
                <a:spcPct val="100000"/>
              </a:lnSpc>
              <a:spcBef>
                <a:spcPts val="848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Gill Sans"/>
              <a:buChar char="•"/>
            </a:pPr>
            <a:r>
              <a:rPr i="0" lang="ru-RU" sz="2300" u="none" cap="none" strike="noStrik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выбор GPT-сервиса идет через конфигурацию провайдера</a:t>
            </a:r>
            <a:endParaRPr i="0" sz="2300" u="none" cap="none" strike="noStrike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5794" lvl="1" marL="630000" marR="0" rtl="0" algn="l">
              <a:lnSpc>
                <a:spcPct val="100000"/>
              </a:lnSpc>
              <a:spcBef>
                <a:spcPts val="848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Gill Sans"/>
              <a:buChar char="•"/>
            </a:pPr>
            <a:r>
              <a:rPr i="0" lang="ru-RU" sz="2300" u="none" cap="none" strike="noStrik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внешний поиск не используется: только контекст базы знаний</a:t>
            </a:r>
            <a:endParaRPr i="0" sz="2300" u="none" cap="none" strike="noStrike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33559" lvl="1" marL="630000" marR="0" rtl="0" algn="l">
              <a:lnSpc>
                <a:spcPct val="100000"/>
              </a:lnSpc>
              <a:spcBef>
                <a:spcPts val="848"/>
              </a:spcBef>
              <a:spcAft>
                <a:spcPts val="0"/>
              </a:spcAft>
              <a:buClr>
                <a:schemeClr val="accent2"/>
              </a:buClr>
              <a:buSzPct val="108235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ct val="129883"/>
              <a:buFont typeface="Noto Sans Symbols"/>
              <a:buNone/>
            </a:pPr>
            <a:r>
              <a:t/>
            </a:r>
            <a:endParaRPr b="1" i="0" sz="1500" u="none" cap="none" strike="noStrik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5becf0698_2_29"/>
          <p:cNvSpPr txBox="1"/>
          <p:nvPr>
            <p:ph idx="1" type="body"/>
          </p:nvPr>
        </p:nvSpPr>
        <p:spPr>
          <a:xfrm>
            <a:off x="581192" y="2180496"/>
            <a:ext cx="11029500" cy="36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sp>
        <p:nvSpPr>
          <p:cNvPr id="274" name="Google Shape;274;g3e5becf0698_2_29"/>
          <p:cNvSpPr txBox="1"/>
          <p:nvPr/>
        </p:nvSpPr>
        <p:spPr>
          <a:xfrm>
            <a:off x="539496" y="953481"/>
            <a:ext cx="11384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800" u="none" cap="none" strike="noStrike">
                <a:solidFill>
                  <a:srgbClr val="F2F2F2"/>
                </a:solidFill>
                <a:latin typeface="Gill Sans"/>
                <a:ea typeface="Gill Sans"/>
                <a:cs typeface="Gill Sans"/>
                <a:sym typeface="Gill Sans"/>
              </a:rPr>
              <a:t>БЛОК «API &amp; BACKEND ORCHESTRATION» - ЧТО РЕАЛИЗОВАНО</a:t>
            </a:r>
            <a:endParaRPr/>
          </a:p>
        </p:txBody>
      </p:sp>
      <p:sp>
        <p:nvSpPr>
          <p:cNvPr id="275" name="Google Shape;275;g3e5becf0698_2_29"/>
          <p:cNvSpPr/>
          <p:nvPr/>
        </p:nvSpPr>
        <p:spPr>
          <a:xfrm>
            <a:off x="429768" y="1938528"/>
            <a:ext cx="5340000" cy="2267700"/>
          </a:xfrm>
          <a:prstGeom prst="roundRect">
            <a:avLst>
              <a:gd fmla="val 16667" name="adj"/>
            </a:avLst>
          </a:prstGeom>
          <a:solidFill>
            <a:srgbClr val="F6F9FC"/>
          </a:solidFill>
          <a:ln cap="flat" cmpd="sng" w="9525">
            <a:solidFill>
              <a:srgbClr val="D5E1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e5becf0698_2_29"/>
          <p:cNvSpPr/>
          <p:nvPr/>
        </p:nvSpPr>
        <p:spPr>
          <a:xfrm>
            <a:off x="429768" y="1938528"/>
            <a:ext cx="109800" cy="2267700"/>
          </a:xfrm>
          <a:prstGeom prst="rect">
            <a:avLst/>
          </a:prstGeom>
          <a:solidFill>
            <a:srgbClr val="4590B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e5becf0698_2_29"/>
          <p:cNvSpPr txBox="1"/>
          <p:nvPr/>
        </p:nvSpPr>
        <p:spPr>
          <a:xfrm>
            <a:off x="704088" y="2121408"/>
            <a:ext cx="488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300" u="none" cap="none" strike="noStrike">
                <a:solidFill>
                  <a:srgbClr val="1A3260"/>
                </a:solidFill>
                <a:latin typeface="Gill Sans"/>
                <a:ea typeface="Gill Sans"/>
                <a:cs typeface="Gill Sans"/>
                <a:sym typeface="Gill Sans"/>
              </a:rPr>
              <a:t>API-контракты</a:t>
            </a:r>
            <a:endParaRPr b="1" i="0" sz="1300" u="none" cap="none" strike="noStrike">
              <a:solidFill>
                <a:srgbClr val="1A326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8" name="Google Shape;278;g3e5becf0698_2_29"/>
          <p:cNvSpPr txBox="1"/>
          <p:nvPr/>
        </p:nvSpPr>
        <p:spPr>
          <a:xfrm>
            <a:off x="704088" y="2505456"/>
            <a:ext cx="4864500" cy="16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500" u="none" cap="none" strike="noStrik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•  POST /chat - полный ответ RAG + LLM</a:t>
            </a:r>
            <a:endParaRPr sz="15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500" u="none" cap="none" strike="noStrik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•  POST /chat/stream - SSE: session, token, sources, done, error</a:t>
            </a:r>
            <a:endParaRPr sz="15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500" u="none" cap="none" strike="noStrik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•  /health/live и /health/ready - проверки для Docker Compose</a:t>
            </a:r>
            <a:endParaRPr sz="15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9" name="Google Shape;279;g3e5becf0698_2_29"/>
          <p:cNvSpPr/>
          <p:nvPr/>
        </p:nvSpPr>
        <p:spPr>
          <a:xfrm>
            <a:off x="6428232" y="1938528"/>
            <a:ext cx="5340000" cy="2267700"/>
          </a:xfrm>
          <a:prstGeom prst="roundRect">
            <a:avLst>
              <a:gd fmla="val 16667" name="adj"/>
            </a:avLst>
          </a:prstGeom>
          <a:solidFill>
            <a:srgbClr val="F6F9FC"/>
          </a:solidFill>
          <a:ln cap="flat" cmpd="sng" w="9525">
            <a:solidFill>
              <a:srgbClr val="D5E1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e5becf0698_2_29"/>
          <p:cNvSpPr/>
          <p:nvPr/>
        </p:nvSpPr>
        <p:spPr>
          <a:xfrm>
            <a:off x="6428232" y="1938528"/>
            <a:ext cx="109800" cy="2267700"/>
          </a:xfrm>
          <a:prstGeom prst="rect">
            <a:avLst/>
          </a:prstGeom>
          <a:solidFill>
            <a:srgbClr val="4590B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e5becf0698_2_29"/>
          <p:cNvSpPr txBox="1"/>
          <p:nvPr/>
        </p:nvSpPr>
        <p:spPr>
          <a:xfrm>
            <a:off x="6702552" y="2121408"/>
            <a:ext cx="4882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300" u="none" cap="none" strike="noStrike">
                <a:solidFill>
                  <a:srgbClr val="1A3260"/>
                </a:solidFill>
                <a:latin typeface="Gill Sans"/>
                <a:ea typeface="Gill Sans"/>
                <a:cs typeface="Gill Sans"/>
                <a:sym typeface="Gill Sans"/>
              </a:rPr>
              <a:t>Контекст диалога</a:t>
            </a:r>
            <a:endParaRPr/>
          </a:p>
        </p:txBody>
      </p:sp>
      <p:sp>
        <p:nvSpPr>
          <p:cNvPr id="282" name="Google Shape;282;g3e5becf0698_2_29"/>
          <p:cNvSpPr txBox="1"/>
          <p:nvPr/>
        </p:nvSpPr>
        <p:spPr>
          <a:xfrm>
            <a:off x="6702552" y="2505456"/>
            <a:ext cx="4864500" cy="16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500" u="none" cap="none" strike="noStrik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•  session_id создается API или принимается из запроса</a:t>
            </a:r>
            <a:endParaRPr sz="15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500" u="none" cap="none" strike="noStrik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•  история хранится по сессии в data/sessions</a:t>
            </a:r>
            <a:endParaRPr sz="15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500" u="none" cap="none" strike="noStrik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•  в LLM передается до 5 последних сообщений истории</a:t>
            </a:r>
            <a:endParaRPr sz="15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3" name="Google Shape;283;g3e5becf0698_2_29"/>
          <p:cNvSpPr/>
          <p:nvPr/>
        </p:nvSpPr>
        <p:spPr>
          <a:xfrm>
            <a:off x="429768" y="4526280"/>
            <a:ext cx="11338500" cy="1627500"/>
          </a:xfrm>
          <a:prstGeom prst="roundRect">
            <a:avLst>
              <a:gd fmla="val 16667" name="adj"/>
            </a:avLst>
          </a:prstGeom>
          <a:solidFill>
            <a:srgbClr val="F6F9FC"/>
          </a:solidFill>
          <a:ln cap="flat" cmpd="sng" w="9525">
            <a:solidFill>
              <a:srgbClr val="D5E1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e5becf0698_2_29"/>
          <p:cNvSpPr/>
          <p:nvPr/>
        </p:nvSpPr>
        <p:spPr>
          <a:xfrm>
            <a:off x="429768" y="4526280"/>
            <a:ext cx="109800" cy="1627500"/>
          </a:xfrm>
          <a:prstGeom prst="rect">
            <a:avLst/>
          </a:prstGeom>
          <a:solidFill>
            <a:srgbClr val="4590B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e5becf0698_2_29"/>
          <p:cNvSpPr txBox="1"/>
          <p:nvPr/>
        </p:nvSpPr>
        <p:spPr>
          <a:xfrm>
            <a:off x="704088" y="4709160"/>
            <a:ext cx="1088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300" u="none" cap="none" strike="noStrike">
                <a:solidFill>
                  <a:srgbClr val="1A3260"/>
                </a:solidFill>
                <a:latin typeface="Gill Sans"/>
                <a:ea typeface="Gill Sans"/>
                <a:cs typeface="Gill Sans"/>
                <a:sym typeface="Gill Sans"/>
              </a:rPr>
              <a:t>Надежность и расширяемость</a:t>
            </a:r>
            <a:endParaRPr/>
          </a:p>
        </p:txBody>
      </p:sp>
      <p:sp>
        <p:nvSpPr>
          <p:cNvPr id="286" name="Google Shape;286;g3e5becf0698_2_29"/>
          <p:cNvSpPr txBox="1"/>
          <p:nvPr/>
        </p:nvSpPr>
        <p:spPr>
          <a:xfrm>
            <a:off x="704088" y="5093208"/>
            <a:ext cx="108630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18275" spcFirstLastPara="1" rIns="18275" wrap="square" tIns="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530" u="none" cap="none" strike="noStrik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•  единые Pydantic-модели: ChatRequest, ChatResponse, ErrorResponse</a:t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530" u="none" cap="none" strike="noStrik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•  универсальный OpenAI-compatible провайдер без жесткой привязки к GigaChat или YandexGPT</a:t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530" u="none" cap="none" strike="noStrik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•  корректное закрытие LLM-клиента в FastAPI lifespan, явные timeout и OAuth-обновление токена</a:t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530" u="none" cap="none" strike="noStrik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•  при answered=false источники скрываются, а unanswered-запрос попадает в метрики</a:t>
            </a:r>
            <a:endParaRPr sz="19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"/>
          <p:cNvSpPr/>
          <p:nvPr/>
        </p:nvSpPr>
        <p:spPr>
          <a:xfrm>
            <a:off x="2602098" y="2967335"/>
            <a:ext cx="698781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5400" u="none" cap="none" strike="noStrike">
                <a:solidFill>
                  <a:srgbClr val="C1D1EE"/>
                </a:solidFill>
                <a:latin typeface="Gill Sans"/>
                <a:ea typeface="Gill Sans"/>
                <a:cs typeface="Gill Sans"/>
                <a:sym typeface="Gill Sans"/>
              </a:rPr>
              <a:t>Спасибо за внимание!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400" u="none" cap="none" strike="noStrike">
              <a:solidFill>
                <a:srgbClr val="C1D1E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Дивиденд">
  <a:themeElements>
    <a:clrScheme name="Дивиденд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2025-12-17T19:31:00Z</dcterms:created>
  <dc:creator>Microsoft Office User</dc:creator>
</cp:coreProperties>
</file>